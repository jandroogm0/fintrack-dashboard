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ienvenida" id="{7d4f8f53-ef0f-2e4e-f1bf-ffb9b4feb932}">
          <p14:sldIdLst>
            <p14:sldId id="256"/>
            <p14:sldId id="257"/>
            <p14:sldId id="258"/>
          </p14:sldIdLst>
        </p14:section>
        <p14:section name="Las bases de tus finanzas" id="{119e6ad1-d4dd-2a6e-fd7e-36d2298f70f8}">
          <p14:sldIdLst>
            <p14:sldId id="259"/>
            <p14:sldId id="260"/>
            <p14:sldId id="261"/>
            <p14:sldId id="262"/>
            <p14:sldId id="263"/>
            <p14:sldId id="264"/>
          </p14:sldIdLst>
        </p14:section>
        <p14:section name="Cómo trabajamos juntos" id="{342e1493-a806-d9f1-5f60-6db141835557}">
          <p14:sldIdLst>
            <p14:sldId id="265"/>
            <p14:sldId id="266"/>
            <p14:sldId id="267"/>
            <p14:sldId id="268"/>
            <p14:sldId id="269"/>
          </p14:sldIdLst>
        </p14:section>
        <p14:section name="Próximos pasos" id="{09c857da-6b97-d599-7366-cdbd1e0d8cef}">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4B"/>
                </a:solidFill>
                <a:latin typeface="+mn-lt"/>
              </a:defRPr>
            </a:pPr>
            <a:r>
              <a:rPr sz="1300" b="0" i="0" u="none" strike="noStrike">
                <a:solidFill>
                  <a:srgbClr val="1B1F4B"/>
                </a:solidFill>
                <a:latin typeface="+mn-lt"/>
              </a:rPr>
              <a:t>Lo que puedes comprar con 10.000 € de hoy</a:t>
            </a:r>
          </a:p>
        </c:rich>
      </c:tx>
      <c:layout/>
      <c:overlay val="0"/>
    </c:title>
    <c:autoTitleDeleted val="0"/>
    <c:plotArea>
      <c:layout/>
      <c:barChart>
        <c:barDir val="col"/>
        <c:grouping val="clustered"/>
        <c:varyColors val="0"/>
        <c:ser>
          <c:idx val="0"/>
          <c:order val="0"/>
          <c:tx>
            <c:strRef>
              <c:f>Sheet1!$B$1</c:f>
              <c:strCache>
                <c:ptCount val="1"/>
                <c:pt idx="0">
                  <c:v>Poder de compra</c:v>
                </c:pt>
              </c:strCache>
            </c:strRef>
          </c:tx>
          <c:spPr>
            <a:solidFill>
              <a:srgbClr val="2F5BFF"/>
            </a:solidFill>
            <a:effectLst/>
          </c:spPr>
          <c:invertIfNegative val="0"/>
          <c:dLbls>
            <c:numFmt formatCode="#,##0 €" sourceLinked="0"/>
            <c:txPr>
              <a:bodyPr/>
              <a:lstStyle/>
              <a:p>
                <a:pPr>
                  <a:defRPr b="0" i="0" strike="noStrike" sz="1100" u="none">
                    <a:solidFill>
                      <a:srgbClr val="1B1F4B"/>
                    </a:solidFill>
                    <a:latin typeface="+mn-lt"/>
                  </a:defRPr>
                </a:pPr>
              </a:p>
            </c:txPr>
            <c:showLegendKey val="0"/>
            <c:showVal val="1"/>
            <c:showCatName val="0"/>
            <c:showSerName val="0"/>
            <c:showPercent val="0"/>
            <c:showBubbleSize val="0"/>
            <c:showLeaderLines val="0"/>
          </c:dLbls>
          <c:cat>
            <c:multiLvlStrRef>
              <c:f>Sheet1!$A$2:$A$6</c:f>
              <c:multiLvlStrCache>
                <c:ptCount val="5"/>
                <c:lvl>
                  <c:pt idx="0">
                    <c:v>Hoy</c:v>
                  </c:pt>
                  <c:pt idx="1">
                    <c:v>5 años</c:v>
                  </c:pt>
                  <c:pt idx="2">
                    <c:v>10 años</c:v>
                  </c:pt>
                  <c:pt idx="3">
                    <c:v>15 años</c:v>
                  </c:pt>
                  <c:pt idx="4">
                    <c:v>20 años</c:v>
                  </c:pt>
                </c:lvl>
              </c:multiLvlStrCache>
            </c:multiLvlStrRef>
          </c:cat>
          <c:val>
            <c:numRef>
              <c:f>Sheet1!$B$2:$B$6</c:f>
              <c:numCache>
                <c:formatCode>General</c:formatCode>
                <c:ptCount val="5"/>
                <c:pt idx="0">
                  <c:v>10000</c:v>
                </c:pt>
                <c:pt idx="1">
                  <c:v>8626</c:v>
                </c:pt>
                <c:pt idx="2">
                  <c:v>7441</c:v>
                </c:pt>
                <c:pt idx="3">
                  <c:v>6419</c:v>
                </c:pt>
                <c:pt idx="4">
                  <c:v>5537</c:v>
                </c:pt>
              </c:numCache>
            </c:numRef>
          </c:val>
        </c:ser>
        <c:dLbls>
          <c:numFmt formatCode="#,##0 €" sourceLinked="0"/>
          <c:txPr>
            <a:bodyPr/>
            <a:lstStyle/>
            <a:p>
              <a:pPr>
                <a:defRPr b="0" i="0" strike="noStrike" sz="1100" u="none">
                  <a:solidFill>
                    <a:srgbClr val="1B1F4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090"/>
                </a:solidFill>
                <a:latin typeface="+mn-lt"/>
              </a:defRPr>
            </a:pPr>
            <a:endParaRPr lang="en-US"/>
          </a:p>
        </c:txPr>
        <c:crossAx val="2094734552"/>
        <c:crosses val="autoZero"/>
        <c:auto val="1"/>
        <c:lblAlgn val="ctr"/>
        <c:noMultiLvlLbl val="1"/>
      </c:catAx>
      <c:valAx>
        <c:axId val="2094734552"/>
        <c:scaling>
          <c:orientation val="minMax"/>
          <c:max val="115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Lo que aportas</c:v>
                </c:pt>
              </c:strCache>
            </c:strRef>
          </c:tx>
          <c:spPr>
            <a:solidFill>
              <a:srgbClr val="2F5B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5 años</c:v>
                  </c:pt>
                  <c:pt idx="1">
                    <c:v>10 años</c:v>
                  </c:pt>
                  <c:pt idx="2">
                    <c:v>15 años</c:v>
                  </c:pt>
                  <c:pt idx="3">
                    <c:v>20 años</c:v>
                  </c:pt>
                  <c:pt idx="4">
                    <c:v>25 años</c:v>
                  </c:pt>
                  <c:pt idx="5">
                    <c:v>30 años</c:v>
                  </c:pt>
                </c:lvl>
              </c:multiLvlStrCache>
            </c:multiLvlStrRef>
          </c:cat>
          <c:val>
            <c:numRef>
              <c:f>Sheet1!$B$2:$B$7</c:f>
              <c:numCache>
                <c:formatCode>General</c:formatCode>
                <c:ptCount val="6"/>
                <c:pt idx="0">
                  <c:v>12000</c:v>
                </c:pt>
                <c:pt idx="1">
                  <c:v>24000</c:v>
                </c:pt>
                <c:pt idx="2">
                  <c:v>36000</c:v>
                </c:pt>
                <c:pt idx="3">
                  <c:v>48000</c:v>
                </c:pt>
                <c:pt idx="4">
                  <c:v>60000</c:v>
                </c:pt>
                <c:pt idx="5">
                  <c:v>72000</c:v>
                </c:pt>
              </c:numCache>
            </c:numRef>
          </c:val>
        </c:ser>
        <c:ser>
          <c:idx val="1"/>
          <c:order val="1"/>
          <c:tx>
            <c:strRef>
              <c:f>Sheet1!$C$1</c:f>
              <c:strCache>
                <c:ptCount val="1"/>
                <c:pt idx="0">
                  <c:v>Lo que generan tus inversiones</c:v>
                </c:pt>
              </c:strCache>
            </c:strRef>
          </c:tx>
          <c:spPr>
            <a:solidFill>
              <a:srgbClr val="FF6A2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5 años</c:v>
                  </c:pt>
                  <c:pt idx="1">
                    <c:v>10 años</c:v>
                  </c:pt>
                  <c:pt idx="2">
                    <c:v>15 años</c:v>
                  </c:pt>
                  <c:pt idx="3">
                    <c:v>20 años</c:v>
                  </c:pt>
                  <c:pt idx="4">
                    <c:v>25 años</c:v>
                  </c:pt>
                  <c:pt idx="5">
                    <c:v>30 años</c:v>
                  </c:pt>
                </c:lvl>
              </c:multiLvlStrCache>
            </c:multiLvlStrRef>
          </c:cat>
          <c:val>
            <c:numRef>
              <c:f>Sheet1!$C$2:$C$7</c:f>
              <c:numCache>
                <c:formatCode>General</c:formatCode>
                <c:ptCount val="6"/>
                <c:pt idx="0">
                  <c:v>1601</c:v>
                </c:pt>
                <c:pt idx="1">
                  <c:v>7056</c:v>
                </c:pt>
                <c:pt idx="2">
                  <c:v>17458</c:v>
                </c:pt>
                <c:pt idx="3">
                  <c:v>34207</c:v>
                </c:pt>
                <c:pt idx="4">
                  <c:v>59102</c:v>
                </c:pt>
                <c:pt idx="5">
                  <c:v>94452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09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5EF"/>
              </a:solidFill>
              <a:prstDash val="solid"/>
              <a:round/>
            </a:ln>
          </c:spPr>
        </c:majorGridlines>
        <c:numFmt formatCode="#,##0 €"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0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F4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4B"/>
                </a:solidFill>
                <a:latin typeface="+mn-lt"/>
              </a:defRPr>
            </a:pPr>
            <a:r>
              <a:rPr sz="1300" b="0" i="0" u="none" strike="noStrike">
                <a:solidFill>
                  <a:srgbClr val="1B1F4B"/>
                </a:solidFill>
                <a:latin typeface="+mn-lt"/>
              </a:rPr>
              <a:t>100.000 € invertidos durante 25 años</a:t>
            </a:r>
          </a:p>
        </c:rich>
      </c:tx>
      <c:layout/>
      <c:overlay val="0"/>
    </c:title>
    <c:autoTitleDeleted val="0"/>
    <c:plotArea>
      <c:layout/>
      <c:barChart>
        <c:barDir val="bar"/>
        <c:grouping val="clustered"/>
        <c:varyColors val="0"/>
        <c:ser>
          <c:idx val="0"/>
          <c:order val="0"/>
          <c:tx>
            <c:strRef>
              <c:f>Sheet1!$B$1</c:f>
              <c:strCache>
                <c:ptCount val="1"/>
                <c:pt idx="0">
                  <c:v>Valor final</c:v>
                </c:pt>
              </c:strCache>
            </c:strRef>
          </c:tx>
          <c:spPr>
            <a:solidFill>
              <a:srgbClr val="6B7090"/>
            </a:solidFill>
            <a:effectLst/>
          </c:spPr>
          <c:invertIfNegative val="0"/>
          <c:dLbls>
            <c:numFmt formatCode="#,##0 €" sourceLinked="0"/>
            <c:txPr>
              <a:bodyPr/>
              <a:lstStyle/>
              <a:p>
                <a:pPr>
                  <a:defRPr b="0" i="0" strike="noStrike" sz="1200" u="none">
                    <a:solidFill>
                      <a:srgbClr val="1B1F4B"/>
                    </a:solidFill>
                    <a:latin typeface="+mn-lt"/>
                  </a:defRPr>
                </a:pPr>
              </a:p>
            </c:txPr>
            <c:showLegendKey val="0"/>
            <c:showVal val="1"/>
            <c:showCatName val="0"/>
            <c:showSerName val="0"/>
            <c:showPercent val="0"/>
            <c:showBubbleSize val="0"/>
            <c:showLeaderLines val="0"/>
          </c:dLbls>
          <c:dPt>
            <c:idx val="0"/>
            <c:invertIfNegative val="0"/>
            <c:bubble3D val="0"/>
            <c:spPr>
              <a:solidFill>
                <a:srgbClr val="6B7090"/>
              </a:solidFill>
              <a:effectLst/>
            </c:spPr>
          </c:dPt>
          <c:dPt>
            <c:idx val="1"/>
            <c:invertIfNegative val="0"/>
            <c:bubble3D val="0"/>
            <c:spPr>
              <a:solidFill>
                <a:srgbClr val="2F5BFF"/>
              </a:solidFill>
              <a:effectLst/>
            </c:spPr>
          </c:dPt>
          <c:cat>
            <c:multiLvlStrRef>
              <c:f>Sheet1!$A$2:$A$3</c:f>
              <c:multiLvlStrCache>
                <c:ptCount val="2"/>
                <c:lvl>
                  <c:pt idx="0">
                    <c:v>Coste del 1,8 % al año</c:v>
                  </c:pt>
                  <c:pt idx="1">
                    <c:v>Coste del 0,3 % al año</c:v>
                  </c:pt>
                </c:lvl>
              </c:multiLvlStrCache>
            </c:multiLvlStrRef>
          </c:cat>
          <c:val>
            <c:numRef>
              <c:f>Sheet1!$B$2:$B$3</c:f>
              <c:numCache>
                <c:formatCode>General</c:formatCode>
                <c:ptCount val="2"/>
                <c:pt idx="0">
                  <c:v>279700</c:v>
                </c:pt>
                <c:pt idx="1">
                  <c:v>399829</c:v>
                </c:pt>
              </c:numCache>
            </c:numRef>
          </c:val>
        </c:ser>
        <c:dLbls>
          <c:numFmt formatCode="#,##0 €" sourceLinked="0"/>
          <c:txPr>
            <a:bodyPr/>
            <a:lstStyle/>
            <a:p>
              <a:pPr>
                <a:defRPr b="0" i="0" strike="noStrike" sz="1200" u="none">
                  <a:solidFill>
                    <a:srgbClr val="1B1F4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F4B"/>
                </a:solidFill>
                <a:latin typeface="+mn-lt"/>
              </a:defRPr>
            </a:pPr>
            <a:endParaRPr lang="en-US"/>
          </a:p>
        </c:txPr>
        <c:crossAx val="2094734552"/>
        <c:crosses val="autoZero"/>
        <c:auto val="1"/>
        <c:lblAlgn val="ctr"/>
        <c:noMultiLvlLbl val="1"/>
      </c:catAx>
      <c:valAx>
        <c:axId val="2094734552"/>
        <c:scaling>
          <c:orientation val="minMax"/>
          <c:max val="50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Agradecer la confianza. Explicar que la sesión tiene dos partes: primero repasamos unas ideas básicas de finanzas personales y después explicamos paso a paso cómo funciona el servicio. Animar al cliente a interrumpir con cualquier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ideas clave del servicio. 1) Asesoramos: recomendamos, pero la decisión es siempre del cliente. 2) El dinero nunca pasa por nosotros: está en una cuenta a su nombre en una entidad regulada. 3) Transparencia total en pasos y costes.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Parte 1, unos 15 minutos de conceptos básicos con ejemplos. Parte 2, unos 15 minutos sobre el proceso. Al final, tiempo para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escalera del ahorro. Antes de invertir hay que tener controlado el presupuesto y un fondo de emergencia de 3 a 6 meses de gastos, en una cuenta sin riesgo y disponible. Solo el dinero que no se va a necesitar a corto plazo debe invertirse: así nunca tendremos que vender en un mal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inflación es la subida general de precios. Si los precios suben un 3 % al año, 10.000 euros de hoy equivalen a unos 7.400 euros dentro de 10 años. Por eso, el dinero que no vamos a necesitar a corto plazo conviene invertirlo: para que al menos mantenga su valor.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interés compuesto consiste en ganar rendimientos sobre los rendimientos anteriores. Con 200 euros al mes durante 30 años se aportan 72.000 euros. Con un 5 % anual, el valor podría rondar los 166.000 euros: más de la mitad lo habría generado la propia inversión. La clave es el tiempo y la constancia. Recalcar que es un ejemplo: los mercados no suben un 5 % todos los años.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grandes tipos de activo. Liquidez: segura y disponible, pero rinde poco y pierde frente a la inflación. Renta fija: prestamos dinero a cambio de un interés; riesgo moderado. Renta variable: somos socios de empresas; es lo que más crece a largo plazo, pero con caídas temporales que pueden ser fuertes. Por eso el plazo es clave: cuanto más largo, más renta variable podemos asumir.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Diversificar es repartir el riesgo. Si todo el dinero está en una empresa, su suerte es la nuestra. Un fondo global reparte el dinero entre miles de empresas de muchos países. Además diversificamos por tipo de activo (la mezcla depende del perfil) y en el tiempo, invirtiendo poco a poco para no depender del momento de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costes se restan de la rentabilidad cada año y, por el interés compuesto, su efecto se acumula. Con 100.000 euros a 25 años, pagar un 0,3 % en lugar de un 1,8 % puede suponer unos 120.000 euros más. Por eso priorizamos fondos indexados de bajo coste. Además, en España los fondos permiten traspasos: cambiar de fondo sin tributar hasta el reembolso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del proceso. 1) Primera reunión y cuestionario de información general. 2) Test de idoneidad: conocimientos, situación financiera y objetivos; define el perfil de riesgo. 3) Propuesta de cartera (asset allocation) con la explicación de por qué es adecuada. 4) Contrato de prestación de servicios. 5) Puesta en marcha: apertura de cuenta, traspasos y aportaciones; el cliente ejecuta, nosotros guiamos. 6) Seguimiento periódico. Los traspasos pueden tardar entre 5 y 15 días hábiles.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Documentación: la pedimos por obligación legal (identificación y prevención del blanqueo de capitales) y para conocer bien la situación del cliente. Recalcar la importancia de responder con sinceridad: la recomendación solo es buena si la información es correcta. Toda la información se trata de forma confidencial conforme al RGPD.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Seguimiento. Informe trimestral; revisión anual con nuevo test de idoneidad e informe de costes; reequilibrio cuando la cartera se desvía de sus bandas, preferiblemente con nuevas aportaciones o traspasos para no generar impuestos; revisión extraordinaria ante cambios vitales. Pedir al cliente que nos avise de cualquier cambio relevante.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 honorarios. Explicar cómo se calcula el honorario según la tarifa vigente (se detalla en el contrato). Enseñar la estimación de costes ex ante: honorario más el coste de los fondos (TER). Cada año se envía el informe ex post con los costes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más habituales. Insistir en que el asesor no custodia el dinero ni puede disponer de él. Ante caídas de mercado, recordar el horizonte temporal y que vender en pánico convierte una caída temporal en pérdida real. Fiscalidad: tributan las ganancias al reembolsar; los traspasos entre fondos difieren el impuesto.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Enviar el enlace al cuestionario de bienvenida y la lista de documentos por correo hoy mismo. Fijar la fecha de la siguiente reunión, donde haremos el test de idoneidad y presentaremos el diagnóstico patrimonial. Agradecer de nuevo y abrir turno de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AGFO-Portada-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AGFO-Cierre-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FO 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fintrack-dashboard/2bbd8165-f58a-52e5-bf4f-e9901ca7dd7f/scratchpad/logo/mark.png">    </p:cNvPr>
          <p:cNvPicPr>
            <a:picLocks noChangeAspect="1"/>
          </p:cNvPicPr>
          <p:nvPr/>
        </p:nvPicPr>
        <p:blipFill>
          <a:blip r:embed="rId1"/>
          <a:stretch>
            <a:fillRect/>
          </a:stretch>
        </p:blipFill>
        <p:spPr>
          <a:xfrm>
            <a:off x="548640" y="457200"/>
            <a:ext cx="420624" cy="365760"/>
          </a:xfrm>
          <a:prstGeom prst="rect">
            <a:avLst/>
          </a:prstGeom>
        </p:spPr>
      </p:pic>
      <p:sp>
        <p:nvSpPr>
          <p:cNvPr id="3" name="Text 0"/>
          <p:cNvSpPr/>
          <p:nvPr/>
        </p:nvSpPr>
        <p:spPr>
          <a:xfrm>
            <a:off x="1051560" y="457200"/>
            <a:ext cx="3657600" cy="365760"/>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AG Financial Office</a:t>
            </a:r>
            <a:endParaRPr lang="en-US" sz="1400" dirty="0"/>
          </a:p>
        </p:txBody>
      </p:sp>
      <p:sp>
        <p:nvSpPr>
          <p:cNvPr id="4" name="Text 1"/>
          <p:cNvSpPr/>
          <p:nvPr>
            <p:ph idx="102" type="title" hasCustomPrompt="1"/>
          </p:nvPr>
        </p:nvSpPr>
        <p:spPr>
          <a:xfrm>
            <a:off x="548640" y="1600200"/>
            <a:ext cx="6949440" cy="137160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5" name="Text 1"/>
          <p:cNvSpPr/>
          <p:nvPr>
            <p:ph idx="103" type="body" hasCustomPrompt="1"/>
          </p:nvPr>
        </p:nvSpPr>
        <p:spPr>
          <a:xfrm>
            <a:off x="548640" y="3108960"/>
            <a:ext cx="6949440" cy="82296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FO Cier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fintrack-dashboard/2bbd8165-f58a-52e5-bf4f-e9901ca7dd7f/scratchpad/logo/mark.png">    </p:cNvPr>
          <p:cNvPicPr>
            <a:picLocks noChangeAspect="1"/>
          </p:cNvPicPr>
          <p:nvPr/>
        </p:nvPicPr>
        <p:blipFill>
          <a:blip r:embed="rId1"/>
          <a:stretch>
            <a:fillRect/>
          </a:stretch>
        </p:blipFill>
        <p:spPr>
          <a:xfrm>
            <a:off x="548640" y="457200"/>
            <a:ext cx="420624" cy="365760"/>
          </a:xfrm>
          <a:prstGeom prst="rect">
            <a:avLst/>
          </a:prstGeom>
        </p:spPr>
      </p:pic>
      <p:sp>
        <p:nvSpPr>
          <p:cNvPr id="3" name="Text 0"/>
          <p:cNvSpPr/>
          <p:nvPr/>
        </p:nvSpPr>
        <p:spPr>
          <a:xfrm>
            <a:off x="1051560" y="457200"/>
            <a:ext cx="3657600" cy="365760"/>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AG Financial Office</a:t>
            </a:r>
            <a:endParaRPr lang="en-US" sz="1400" dirty="0"/>
          </a:p>
        </p:txBody>
      </p:sp>
      <p:sp>
        <p:nvSpPr>
          <p:cNvPr id="4" name="Text 1"/>
          <p:cNvSpPr/>
          <p:nvPr>
            <p:ph idx="102" type="title" hasCustomPrompt="1"/>
          </p:nvPr>
        </p:nvSpPr>
        <p:spPr>
          <a:xfrm>
            <a:off x="548640" y="1371600"/>
            <a:ext cx="8046720" cy="100584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FO Contenido">
    <p:bg>
      <p:bgPr>
        <a:solidFill>
          <a:schemeClr val="bg1"/>
        </a:solidFill>
      </p:bgPr>
    </p:bg>
    <p:spTree>
      <p:nvGrpSpPr>
        <p:cNvPr id="1" name=""/>
        <p:cNvGrpSpPr/>
        <p:nvPr/>
      </p:nvGrpSpPr>
      <p:grpSpPr>
        <a:xfrm>
          <a:off x="0" y="0"/>
          <a:ext cx="0" cy="0"/>
          <a:chOff x="0" y="0"/>
          <a:chExt cx="0" cy="0"/>
        </a:xfrm>
      </p:grpSpPr>
      <p:pic>
        <p:nvPicPr>
          <p:cNvPr id="2" name="Image 0" descr="/tmp/claude-0/-home-user-fintrack-dashboard/2bbd8165-f58a-52e5-bf4f-e9901ca7dd7f/scratchpad/logo/mark.png">    </p:cNvPr>
          <p:cNvPicPr>
            <a:picLocks noChangeAspect="1"/>
          </p:cNvPicPr>
          <p:nvPr/>
        </p:nvPicPr>
        <p:blipFill>
          <a:blip r:embed="rId1"/>
          <a:stretch>
            <a:fillRect/>
          </a:stretch>
        </p:blipFill>
        <p:spPr>
          <a:xfrm>
            <a:off x="457200" y="4700016"/>
            <a:ext cx="228600" cy="201168"/>
          </a:xfrm>
          <a:prstGeom prst="rect">
            <a:avLst/>
          </a:prstGeom>
        </p:spPr>
      </p:pic>
      <p:sp>
        <p:nvSpPr>
          <p:cNvPr id="3" name="Text 0"/>
          <p:cNvSpPr/>
          <p:nvPr/>
        </p:nvSpPr>
        <p:spPr>
          <a:xfrm>
            <a:off x="749808" y="4681728"/>
            <a:ext cx="4572000" cy="237744"/>
          </a:xfrm>
          <a:prstGeom prst="rect">
            <a:avLst/>
          </a:prstGeom>
          <a:noFill/>
          <a:ln/>
        </p:spPr>
        <p:txBody>
          <a:bodyPr wrap="square" lIns="0" tIns="0" rIns="0" bIns="0" rtlCol="0" anchor="ctr"/>
          <a:lstStyle/>
          <a:p>
            <a:pPr indent="0" marL="0">
              <a:buNone/>
            </a:pPr>
            <a:r>
              <a:rPr lang="en-US" sz="1000" dirty="0">
                <a:solidFill>
                  <a:schemeClr val="accent6"/>
                </a:solidFill>
              </a:rPr>
              <a:t>AG Financial Office · Sesión de bienvenida</a:t>
            </a:r>
            <a:endParaRPr lang="en-US" sz="1000" dirty="0"/>
          </a:p>
        </p:txBody>
      </p:sp>
      <p:sp>
        <p:nvSpPr>
          <p:cNvPr id="4" name="Text 1"/>
          <p:cNvSpPr/>
          <p:nvPr>
            <p:ph idx="102" type="title" hasCustomPrompt="1"/>
          </p:nvPr>
        </p:nvSpPr>
        <p:spPr>
          <a:xfrm>
            <a:off x="457200" y="292608"/>
            <a:ext cx="8229600" cy="685800"/>
          </a:xfrm>
          <a:prstGeom prst="rect">
            <a:avLst/>
          </a:prstGeom>
          <a:noFill/>
          <a:ln/>
        </p:spPr>
        <p:txBody>
          <a:bodyPr wrap="square" rtlCol="0"/>
          <a:lstStyle>
            <a:lvl1pPr algn="l" indent="0" marL="0">
              <a:buNone/>
              <a:defRPr lang="en-US" sz="2800" b="1" dirty="0">
                <a:solidFill>
                  <a:schemeClr val="tx2"/>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548640" y="1600200"/>
            <a:ext cx="6949440" cy="137160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Bienvenido a tu plan financiero</a:t>
            </a:r>
            <a:endParaRPr lang="en-US" sz="4000" dirty="0"/>
          </a:p>
        </p:txBody>
      </p:sp>
      <p:sp>
        <p:nvSpPr>
          <p:cNvPr id="3" name="Text 1"/>
          <p:cNvSpPr/>
          <p:nvPr>
            <p:ph idx="103" type="body" hasCustomPrompt="1"/>
          </p:nvPr>
        </p:nvSpPr>
        <p:spPr>
          <a:xfrm>
            <a:off x="548640" y="3108960"/>
            <a:ext cx="6949440" cy="822960"/>
          </a:xfrm>
          <a:prstGeom prst="rect">
            <a:avLst/>
          </a:prstGeom>
          <a:noFill/>
          <a:ln/>
        </p:spPr>
        <p:txBody>
          <a:bodyPr wrap="square" lIns="0" tIns="0" rIns="0" bIns="0" rtlCol="0" anchor="t"/>
          <a:lstStyle/>
          <a:p>
            <a:pPr algn="l" indent="0" marL="0">
              <a:buNone/>
            </a:pPr>
            <a:r>
              <a:rPr lang="en-US" sz="1800" dirty="0">
                <a:solidFill>
                  <a:schemeClr val="bg1"/>
                </a:solidFill>
              </a:rPr>
              <a:t>Sesión de bienvenida · Asesoramiento financiero personalizado</a:t>
            </a:r>
            <a:endParaRPr lang="en-US" sz="1800" dirty="0"/>
          </a:p>
        </p:txBody>
      </p:sp>
      <p:sp>
        <p:nvSpPr>
          <p:cNvPr id="4" name="Text 2"/>
          <p:cNvSpPr txBox="1"/>
          <p:nvPr/>
        </p:nvSpPr>
        <p:spPr>
          <a:xfrm>
            <a:off x="548640" y="4343400"/>
            <a:ext cx="5486400" cy="320040"/>
          </a:xfrm>
          <a:prstGeom prst="rect">
            <a:avLst/>
          </a:prstGeom>
          <a:noFill/>
          <a:ln/>
        </p:spPr>
        <p:txBody>
          <a:bodyPr wrap="square" lIns="0" tIns="0" rIns="0" bIns="0" rtlCol="0" anchor="t"/>
          <a:lstStyle/>
          <a:p>
            <a:pPr indent="0" marL="0">
              <a:buNone/>
            </a:pPr>
            <a:r>
              <a:rPr lang="en-US" sz="1200" dirty="0">
                <a:solidFill>
                  <a:schemeClr val="bg1"/>
                </a:solidFill>
              </a:rPr>
              <a:t>Alejandro Garcia Montellano · Financial Advisor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Qué hacemos por ti</a:t>
            </a:r>
            <a:endParaRPr lang="en-US" sz="2800" dirty="0"/>
          </a:p>
        </p:txBody>
      </p:sp>
      <p:sp>
        <p:nvSpPr>
          <p:cNvPr id="3" name="Tarjeta 1"/>
          <p:cNvSpPr/>
          <p:nvPr/>
        </p:nvSpPr>
        <p:spPr>
          <a:xfrm>
            <a:off x="457200" y="1234440"/>
            <a:ext cx="2560320" cy="2926080"/>
          </a:xfrm>
          <a:prstGeom prst="roundRect">
            <a:avLst>
              <a:gd name="adj" fmla="val 4286"/>
            </a:avLst>
          </a:prstGeom>
          <a:solidFill>
            <a:schemeClr val="bg2"/>
          </a:solidFill>
          <a:ln/>
        </p:spPr>
      </p:sp>
      <p:sp>
        <p:nvSpPr>
          <p:cNvPr id="4" name="Icono 1"/>
          <p:cNvSpPr/>
          <p:nvPr/>
        </p:nvSpPr>
        <p:spPr>
          <a:xfrm>
            <a:off x="731520" y="1508760"/>
            <a:ext cx="640080" cy="640080"/>
          </a:xfrm>
          <a:prstGeom prst="ellipse">
            <a:avLst/>
          </a:prstGeom>
          <a:solidFill>
            <a:schemeClr val="accent1"/>
          </a:solidFill>
          <a:ln/>
        </p:spPr>
      </p:sp>
      <p:pic>
        <p:nvPicPr>
          <p:cNvPr id="5" name="Icono 1 icono" descr="preencoded.png">    </p:cNvPr>
          <p:cNvPicPr>
            <a:picLocks noChangeAspect="1"/>
          </p:cNvPicPr>
          <p:nvPr/>
        </p:nvPicPr>
        <p:blipFill>
          <a:blip r:embed="rId1"/>
          <a:stretch>
            <a:fillRect/>
          </a:stretch>
        </p:blipFill>
        <p:spPr>
          <a:xfrm>
            <a:off x="891540" y="1668780"/>
            <a:ext cx="320040" cy="320040"/>
          </a:xfrm>
          <a:prstGeom prst="rect">
            <a:avLst/>
          </a:prstGeom>
        </p:spPr>
      </p:pic>
      <p:sp>
        <p:nvSpPr>
          <p:cNvPr id="6" name="Text 3"/>
          <p:cNvSpPr txBox="1"/>
          <p:nvPr/>
        </p:nvSpPr>
        <p:spPr>
          <a:xfrm>
            <a:off x="731520" y="2331720"/>
            <a:ext cx="2011680" cy="594360"/>
          </a:xfrm>
          <a:prstGeom prst="rect">
            <a:avLst/>
          </a:prstGeom>
          <a:noFill/>
          <a:ln/>
        </p:spPr>
        <p:txBody>
          <a:bodyPr wrap="square" lIns="0" tIns="0" rIns="0" bIns="0" rtlCol="0" anchor="t"/>
          <a:lstStyle/>
          <a:p>
            <a:pPr indent="0" marL="0">
              <a:buNone/>
            </a:pPr>
            <a:r>
              <a:rPr lang="en-US" sz="1600" b="1" dirty="0">
                <a:solidFill>
                  <a:schemeClr val="tx2"/>
                </a:solidFill>
                <a:latin typeface="Arial" pitchFamily="34" charset="0"/>
                <a:ea typeface="Arial" pitchFamily="34" charset="-122"/>
                <a:cs typeface="Arial" pitchFamily="34" charset="-120"/>
              </a:rPr>
              <a:t>Te ayudamos a decidir</a:t>
            </a:r>
            <a:endParaRPr lang="en-US" sz="1600" dirty="0"/>
          </a:p>
        </p:txBody>
      </p:sp>
      <p:sp>
        <p:nvSpPr>
          <p:cNvPr id="7" name="Text 4"/>
          <p:cNvSpPr txBox="1"/>
          <p:nvPr/>
        </p:nvSpPr>
        <p:spPr>
          <a:xfrm>
            <a:off x="731520" y="2971800"/>
            <a:ext cx="2011680" cy="1097280"/>
          </a:xfrm>
          <a:prstGeom prst="rect">
            <a:avLst/>
          </a:prstGeom>
          <a:noFill/>
          <a:ln/>
        </p:spPr>
        <p:txBody>
          <a:bodyPr wrap="square" lIns="0" tIns="0" rIns="0" bIns="0" rtlCol="0" anchor="t"/>
          <a:lstStyle/>
          <a:p>
            <a:pPr indent="0" marL="0">
              <a:buNone/>
            </a:pPr>
            <a:r>
              <a:rPr lang="en-US" sz="1400" dirty="0">
                <a:solidFill>
                  <a:schemeClr val="tx1"/>
                </a:solidFill>
              </a:rPr>
              <a:t>Te recomendamos cómo invertir según tus objetivos, tu plazo y tu tranquilidad.</a:t>
            </a:r>
            <a:endParaRPr lang="en-US" sz="1400" dirty="0"/>
          </a:p>
        </p:txBody>
      </p:sp>
      <p:sp>
        <p:nvSpPr>
          <p:cNvPr id="8" name="Tarjeta 2"/>
          <p:cNvSpPr/>
          <p:nvPr/>
        </p:nvSpPr>
        <p:spPr>
          <a:xfrm>
            <a:off x="3291840" y="1234440"/>
            <a:ext cx="2560320" cy="2926080"/>
          </a:xfrm>
          <a:prstGeom prst="roundRect">
            <a:avLst>
              <a:gd name="adj" fmla="val 4286"/>
            </a:avLst>
          </a:prstGeom>
          <a:solidFill>
            <a:schemeClr val="bg2"/>
          </a:solidFill>
          <a:ln/>
        </p:spPr>
      </p:sp>
      <p:sp>
        <p:nvSpPr>
          <p:cNvPr id="9" name="Icono 2"/>
          <p:cNvSpPr/>
          <p:nvPr/>
        </p:nvSpPr>
        <p:spPr>
          <a:xfrm>
            <a:off x="3566160" y="1508760"/>
            <a:ext cx="640080" cy="640080"/>
          </a:xfrm>
          <a:prstGeom prst="ellipse">
            <a:avLst/>
          </a:prstGeom>
          <a:solidFill>
            <a:schemeClr val="accent2"/>
          </a:solidFill>
          <a:ln/>
        </p:spPr>
      </p:sp>
      <p:pic>
        <p:nvPicPr>
          <p:cNvPr id="10" name="Icono 2 icono" descr="preencoded.png">    </p:cNvPr>
          <p:cNvPicPr>
            <a:picLocks noChangeAspect="1"/>
          </p:cNvPicPr>
          <p:nvPr/>
        </p:nvPicPr>
        <p:blipFill>
          <a:blip r:embed="rId2"/>
          <a:stretch>
            <a:fillRect/>
          </a:stretch>
        </p:blipFill>
        <p:spPr>
          <a:xfrm>
            <a:off x="3726180" y="1668780"/>
            <a:ext cx="320040" cy="320040"/>
          </a:xfrm>
          <a:prstGeom prst="rect">
            <a:avLst/>
          </a:prstGeom>
        </p:spPr>
      </p:pic>
      <p:sp>
        <p:nvSpPr>
          <p:cNvPr id="11" name="Text 7"/>
          <p:cNvSpPr txBox="1"/>
          <p:nvPr/>
        </p:nvSpPr>
        <p:spPr>
          <a:xfrm>
            <a:off x="3566160" y="2331720"/>
            <a:ext cx="2011680" cy="594360"/>
          </a:xfrm>
          <a:prstGeom prst="rect">
            <a:avLst/>
          </a:prstGeom>
          <a:noFill/>
          <a:ln/>
        </p:spPr>
        <p:txBody>
          <a:bodyPr wrap="square" lIns="0" tIns="0" rIns="0" bIns="0" rtlCol="0" anchor="t"/>
          <a:lstStyle/>
          <a:p>
            <a:pPr indent="0" marL="0">
              <a:buNone/>
            </a:pPr>
            <a:r>
              <a:rPr lang="en-US" sz="1600" b="1" dirty="0">
                <a:solidFill>
                  <a:schemeClr val="tx2"/>
                </a:solidFill>
                <a:latin typeface="Arial" pitchFamily="34" charset="0"/>
                <a:ea typeface="Arial" pitchFamily="34" charset="-122"/>
                <a:cs typeface="Arial" pitchFamily="34" charset="-120"/>
              </a:rPr>
              <a:t>Tu dinero, siempre a tu nombre</a:t>
            </a:r>
            <a:endParaRPr lang="en-US" sz="1600" dirty="0"/>
          </a:p>
        </p:txBody>
      </p:sp>
      <p:sp>
        <p:nvSpPr>
          <p:cNvPr id="12" name="Text 8"/>
          <p:cNvSpPr txBox="1"/>
          <p:nvPr/>
        </p:nvSpPr>
        <p:spPr>
          <a:xfrm>
            <a:off x="3566160" y="2971800"/>
            <a:ext cx="2011680" cy="1097280"/>
          </a:xfrm>
          <a:prstGeom prst="rect">
            <a:avLst/>
          </a:prstGeom>
          <a:noFill/>
          <a:ln/>
        </p:spPr>
        <p:txBody>
          <a:bodyPr wrap="square" lIns="0" tIns="0" rIns="0" bIns="0" rtlCol="0" anchor="t"/>
          <a:lstStyle/>
          <a:p>
            <a:pPr indent="0" marL="0">
              <a:buNone/>
            </a:pPr>
            <a:r>
              <a:rPr lang="en-US" sz="1400" dirty="0">
                <a:solidFill>
                  <a:schemeClr val="tx1"/>
                </a:solidFill>
              </a:rPr>
              <a:t>Tus inversiones están en tu propia cuenta, en una entidad regulada. Nosotros no podemos mover tu dinero.</a:t>
            </a:r>
            <a:endParaRPr lang="en-US" sz="1400" dirty="0"/>
          </a:p>
        </p:txBody>
      </p:sp>
      <p:sp>
        <p:nvSpPr>
          <p:cNvPr id="13" name="Tarjeta 3"/>
          <p:cNvSpPr/>
          <p:nvPr/>
        </p:nvSpPr>
        <p:spPr>
          <a:xfrm>
            <a:off x="6126480" y="1234440"/>
            <a:ext cx="2560320" cy="2926080"/>
          </a:xfrm>
          <a:prstGeom prst="roundRect">
            <a:avLst>
              <a:gd name="adj" fmla="val 4286"/>
            </a:avLst>
          </a:prstGeom>
          <a:solidFill>
            <a:schemeClr val="bg2"/>
          </a:solidFill>
          <a:ln/>
        </p:spPr>
      </p:sp>
      <p:sp>
        <p:nvSpPr>
          <p:cNvPr id="14" name="Icono 3"/>
          <p:cNvSpPr/>
          <p:nvPr/>
        </p:nvSpPr>
        <p:spPr>
          <a:xfrm>
            <a:off x="6400800" y="1508760"/>
            <a:ext cx="640080" cy="640080"/>
          </a:xfrm>
          <a:prstGeom prst="ellipse">
            <a:avLst/>
          </a:prstGeom>
          <a:solidFill>
            <a:schemeClr val="accent3"/>
          </a:solidFill>
          <a:ln/>
        </p:spPr>
      </p:sp>
      <p:pic>
        <p:nvPicPr>
          <p:cNvPr id="15" name="Icono 3 icono" descr="preencoded.png">    </p:cNvPr>
          <p:cNvPicPr>
            <a:picLocks noChangeAspect="1"/>
          </p:cNvPicPr>
          <p:nvPr/>
        </p:nvPicPr>
        <p:blipFill>
          <a:blip r:embed="rId3"/>
          <a:stretch>
            <a:fillRect/>
          </a:stretch>
        </p:blipFill>
        <p:spPr>
          <a:xfrm>
            <a:off x="6560820" y="1668780"/>
            <a:ext cx="320040" cy="320040"/>
          </a:xfrm>
          <a:prstGeom prst="rect">
            <a:avLst/>
          </a:prstGeom>
        </p:spPr>
      </p:pic>
      <p:sp>
        <p:nvSpPr>
          <p:cNvPr id="16" name="Text 11"/>
          <p:cNvSpPr txBox="1"/>
          <p:nvPr/>
        </p:nvSpPr>
        <p:spPr>
          <a:xfrm>
            <a:off x="6400800" y="2331720"/>
            <a:ext cx="2011680" cy="594360"/>
          </a:xfrm>
          <a:prstGeom prst="rect">
            <a:avLst/>
          </a:prstGeom>
          <a:noFill/>
          <a:ln/>
        </p:spPr>
        <p:txBody>
          <a:bodyPr wrap="square" lIns="0" tIns="0" rIns="0" bIns="0" rtlCol="0" anchor="t"/>
          <a:lstStyle/>
          <a:p>
            <a:pPr indent="0" marL="0">
              <a:buNone/>
            </a:pPr>
            <a:r>
              <a:rPr lang="en-US" sz="1600" b="1" dirty="0">
                <a:solidFill>
                  <a:schemeClr val="tx2"/>
                </a:solidFill>
                <a:latin typeface="Arial" pitchFamily="34" charset="0"/>
                <a:ea typeface="Arial" pitchFamily="34" charset="-122"/>
                <a:cs typeface="Arial" pitchFamily="34" charset="-120"/>
              </a:rPr>
              <a:t>Todo claro desde el principio</a:t>
            </a:r>
            <a:endParaRPr lang="en-US" sz="1600" dirty="0"/>
          </a:p>
        </p:txBody>
      </p:sp>
      <p:sp>
        <p:nvSpPr>
          <p:cNvPr id="17" name="Text 12"/>
          <p:cNvSpPr txBox="1"/>
          <p:nvPr/>
        </p:nvSpPr>
        <p:spPr>
          <a:xfrm>
            <a:off x="6400800" y="2971800"/>
            <a:ext cx="2011680" cy="1097280"/>
          </a:xfrm>
          <a:prstGeom prst="rect">
            <a:avLst/>
          </a:prstGeom>
          <a:noFill/>
          <a:ln/>
        </p:spPr>
        <p:txBody>
          <a:bodyPr wrap="square" lIns="0" tIns="0" rIns="0" bIns="0" rtlCol="0" anchor="t"/>
          <a:lstStyle/>
          <a:p>
            <a:pPr indent="0" marL="0">
              <a:buNone/>
            </a:pPr>
            <a:r>
              <a:rPr lang="en-US" sz="1400" dirty="0">
                <a:solidFill>
                  <a:schemeClr val="tx1"/>
                </a:solidFill>
              </a:rPr>
              <a:t>Sin letra pequeña: te explicamos cada paso y cada coste antes de empezar.</a:t>
            </a:r>
            <a:endParaRPr lang="en-US" sz="14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Qué veremos hoy</a:t>
            </a:r>
            <a:endParaRPr lang="en-US" sz="2800" dirty="0"/>
          </a:p>
        </p:txBody>
      </p:sp>
      <p:sp>
        <p:nvSpPr>
          <p:cNvPr id="3" name="Bloque 01"/>
          <p:cNvSpPr/>
          <p:nvPr/>
        </p:nvSpPr>
        <p:spPr>
          <a:xfrm>
            <a:off x="457200" y="1234440"/>
            <a:ext cx="3977640" cy="3063240"/>
          </a:xfrm>
          <a:prstGeom prst="roundRect">
            <a:avLst>
              <a:gd name="adj" fmla="val 3582"/>
            </a:avLst>
          </a:prstGeom>
          <a:solidFill>
            <a:schemeClr val="bg2"/>
          </a:solidFill>
          <a:ln/>
        </p:spPr>
      </p:sp>
      <p:sp>
        <p:nvSpPr>
          <p:cNvPr id="4" name="Text 2"/>
          <p:cNvSpPr txBox="1"/>
          <p:nvPr/>
        </p:nvSpPr>
        <p:spPr>
          <a:xfrm>
            <a:off x="777240" y="1463040"/>
            <a:ext cx="1097280" cy="731520"/>
          </a:xfrm>
          <a:prstGeom prst="rect">
            <a:avLst/>
          </a:prstGeom>
          <a:noFill/>
          <a:ln/>
        </p:spPr>
        <p:txBody>
          <a:bodyPr wrap="square" lIns="0" tIns="0" rIns="0" bIns="0" rtlCol="0" anchor="t"/>
          <a:lstStyle/>
          <a:p>
            <a:pPr indent="0" marL="0">
              <a:buNone/>
            </a:pPr>
            <a:r>
              <a:rPr lang="en-US" sz="4400" b="1" dirty="0">
                <a:solidFill>
                  <a:schemeClr val="accent1"/>
                </a:solidFill>
                <a:latin typeface="Arial" pitchFamily="34" charset="0"/>
                <a:ea typeface="Arial" pitchFamily="34" charset="-122"/>
                <a:cs typeface="Arial" pitchFamily="34" charset="-120"/>
              </a:rPr>
              <a:t>01</a:t>
            </a:r>
            <a:endParaRPr lang="en-US" sz="4400" dirty="0"/>
          </a:p>
        </p:txBody>
      </p:sp>
      <p:sp>
        <p:nvSpPr>
          <p:cNvPr id="5" name="Text 3"/>
          <p:cNvSpPr txBox="1"/>
          <p:nvPr/>
        </p:nvSpPr>
        <p:spPr>
          <a:xfrm>
            <a:off x="1828800" y="1463040"/>
            <a:ext cx="2468880" cy="731520"/>
          </a:xfrm>
          <a:prstGeom prst="rect">
            <a:avLst/>
          </a:prstGeom>
          <a:noFill/>
          <a:ln/>
        </p:spPr>
        <p:txBody>
          <a:bodyPr wrap="square" lIns="0" tIns="0" rIns="0" bIns="0" rtlCol="0" anchor="ctr"/>
          <a:lstStyle/>
          <a:p>
            <a:pPr indent="0" marL="0">
              <a:buNone/>
            </a:pPr>
            <a:r>
              <a:rPr lang="en-US" sz="1800" b="1" dirty="0">
                <a:solidFill>
                  <a:schemeClr val="tx2"/>
                </a:solidFill>
                <a:latin typeface="Arial" pitchFamily="34" charset="0"/>
                <a:ea typeface="Arial" pitchFamily="34" charset="-122"/>
                <a:cs typeface="Arial" pitchFamily="34" charset="-120"/>
              </a:rPr>
              <a:t>Las bases de tus finanzas</a:t>
            </a:r>
            <a:endParaRPr lang="en-US" sz="1800" dirty="0"/>
          </a:p>
        </p:txBody>
      </p:sp>
      <p:sp>
        <p:nvSpPr>
          <p:cNvPr id="6" name="Text 4"/>
          <p:cNvSpPr txBox="1"/>
          <p:nvPr/>
        </p:nvSpPr>
        <p:spPr>
          <a:xfrm>
            <a:off x="777240" y="2377440"/>
            <a:ext cx="3383280" cy="1783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Ahorro y colchón de seguridad</a:t>
            </a:r>
            <a:endParaRPr lang="en-US" sz="1400" dirty="0"/>
          </a:p>
          <a:p>
            <a:pPr marL="342900" indent="-342900">
              <a:spcAft>
                <a:spcPts val="400"/>
              </a:spcAft>
              <a:buSzPct val="100000"/>
              <a:buChar char="•"/>
            </a:pPr>
            <a:r>
              <a:rPr lang="en-US" sz="1400" dirty="0">
                <a:solidFill>
                  <a:schemeClr val="tx1"/>
                </a:solidFill>
              </a:rPr>
              <a:t>La inflación</a:t>
            </a:r>
            <a:endParaRPr lang="en-US" sz="1400" dirty="0"/>
          </a:p>
          <a:p>
            <a:pPr marL="342900" indent="-342900">
              <a:spcAft>
                <a:spcPts val="400"/>
              </a:spcAft>
              <a:buSzPct val="100000"/>
              <a:buChar char="•"/>
            </a:pPr>
            <a:r>
              <a:rPr lang="en-US" sz="1400" dirty="0">
                <a:solidFill>
                  <a:schemeClr val="tx1"/>
                </a:solidFill>
              </a:rPr>
              <a:t>El interés compuesto</a:t>
            </a:r>
            <a:endParaRPr lang="en-US" sz="1400" dirty="0"/>
          </a:p>
          <a:p>
            <a:pPr marL="342900" indent="-342900">
              <a:spcAft>
                <a:spcPts val="400"/>
              </a:spcAft>
              <a:buSzPct val="100000"/>
              <a:buChar char="•"/>
            </a:pPr>
            <a:r>
              <a:rPr lang="en-US" sz="1400" dirty="0">
                <a:solidFill>
                  <a:schemeClr val="tx1"/>
                </a:solidFill>
              </a:rPr>
              <a:t>Riesgo y diversificación</a:t>
            </a:r>
            <a:endParaRPr lang="en-US" sz="1400" dirty="0"/>
          </a:p>
          <a:p>
            <a:pPr marL="342900" indent="-342900">
              <a:spcAft>
                <a:spcPts val="400"/>
              </a:spcAft>
              <a:buSzPct val="100000"/>
              <a:buChar char="•"/>
            </a:pPr>
            <a:r>
              <a:rPr lang="en-US" sz="1400" dirty="0">
                <a:solidFill>
                  <a:schemeClr val="tx1"/>
                </a:solidFill>
              </a:rPr>
              <a:t>Fondos, costes y traspasos</a:t>
            </a:r>
            <a:endParaRPr lang="en-US" sz="1400" dirty="0"/>
          </a:p>
        </p:txBody>
      </p:sp>
      <p:sp>
        <p:nvSpPr>
          <p:cNvPr id="7" name="Bloque 02"/>
          <p:cNvSpPr/>
          <p:nvPr/>
        </p:nvSpPr>
        <p:spPr>
          <a:xfrm>
            <a:off x="4709160" y="1234440"/>
            <a:ext cx="3977640" cy="3063240"/>
          </a:xfrm>
          <a:prstGeom prst="roundRect">
            <a:avLst>
              <a:gd name="adj" fmla="val 3582"/>
            </a:avLst>
          </a:prstGeom>
          <a:solidFill>
            <a:schemeClr val="bg2"/>
          </a:solidFill>
          <a:ln/>
        </p:spPr>
      </p:sp>
      <p:sp>
        <p:nvSpPr>
          <p:cNvPr id="8" name="Text 6"/>
          <p:cNvSpPr txBox="1"/>
          <p:nvPr/>
        </p:nvSpPr>
        <p:spPr>
          <a:xfrm>
            <a:off x="5029200" y="1463040"/>
            <a:ext cx="1097280" cy="731520"/>
          </a:xfrm>
          <a:prstGeom prst="rect">
            <a:avLst/>
          </a:prstGeom>
          <a:noFill/>
          <a:ln/>
        </p:spPr>
        <p:txBody>
          <a:bodyPr wrap="square" lIns="0" tIns="0" rIns="0" bIns="0" rtlCol="0" anchor="t"/>
          <a:lstStyle/>
          <a:p>
            <a:pPr indent="0" marL="0">
              <a:buNone/>
            </a:pPr>
            <a:r>
              <a:rPr lang="en-US" sz="4400" b="1" dirty="0">
                <a:solidFill>
                  <a:schemeClr val="accent3"/>
                </a:solidFill>
                <a:latin typeface="Arial" pitchFamily="34" charset="0"/>
                <a:ea typeface="Arial" pitchFamily="34" charset="-122"/>
                <a:cs typeface="Arial" pitchFamily="34" charset="-120"/>
              </a:rPr>
              <a:t>02</a:t>
            </a:r>
            <a:endParaRPr lang="en-US" sz="4400" dirty="0"/>
          </a:p>
        </p:txBody>
      </p:sp>
      <p:sp>
        <p:nvSpPr>
          <p:cNvPr id="9" name="Text 7"/>
          <p:cNvSpPr txBox="1"/>
          <p:nvPr/>
        </p:nvSpPr>
        <p:spPr>
          <a:xfrm>
            <a:off x="6080760" y="1463040"/>
            <a:ext cx="2468880" cy="731520"/>
          </a:xfrm>
          <a:prstGeom prst="rect">
            <a:avLst/>
          </a:prstGeom>
          <a:noFill/>
          <a:ln/>
        </p:spPr>
        <p:txBody>
          <a:bodyPr wrap="square" lIns="0" tIns="0" rIns="0" bIns="0" rtlCol="0" anchor="ctr"/>
          <a:lstStyle/>
          <a:p>
            <a:pPr indent="0" marL="0">
              <a:buNone/>
            </a:pPr>
            <a:r>
              <a:rPr lang="en-US" sz="1800" b="1" dirty="0">
                <a:solidFill>
                  <a:schemeClr val="tx2"/>
                </a:solidFill>
                <a:latin typeface="Arial" pitchFamily="34" charset="0"/>
                <a:ea typeface="Arial" pitchFamily="34" charset="-122"/>
                <a:cs typeface="Arial" pitchFamily="34" charset="-120"/>
              </a:rPr>
              <a:t>Cómo trabajamos juntos</a:t>
            </a:r>
            <a:endParaRPr lang="en-US" sz="1800" dirty="0"/>
          </a:p>
        </p:txBody>
      </p:sp>
      <p:sp>
        <p:nvSpPr>
          <p:cNvPr id="10" name="Text 8"/>
          <p:cNvSpPr txBox="1"/>
          <p:nvPr/>
        </p:nvSpPr>
        <p:spPr>
          <a:xfrm>
            <a:off x="5029200" y="2377440"/>
            <a:ext cx="3383280" cy="1783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El proceso en 6 pasos</a:t>
            </a:r>
            <a:endParaRPr lang="en-US" sz="1400" dirty="0"/>
          </a:p>
          <a:p>
            <a:pPr marL="342900" indent="-342900">
              <a:spcAft>
                <a:spcPts val="400"/>
              </a:spcAft>
              <a:buSzPct val="100000"/>
              <a:buChar char="•"/>
            </a:pPr>
            <a:r>
              <a:rPr lang="en-US" sz="1400" dirty="0">
                <a:solidFill>
                  <a:schemeClr val="tx1"/>
                </a:solidFill>
              </a:rPr>
              <a:t>Qué necesitamos y qué recibirás</a:t>
            </a:r>
            <a:endParaRPr lang="en-US" sz="1400" dirty="0"/>
          </a:p>
          <a:p>
            <a:pPr marL="342900" indent="-342900">
              <a:spcAft>
                <a:spcPts val="400"/>
              </a:spcAft>
              <a:buSzPct val="100000"/>
              <a:buChar char="•"/>
            </a:pPr>
            <a:r>
              <a:rPr lang="en-US" sz="1400" dirty="0">
                <a:solidFill>
                  <a:schemeClr val="tx1"/>
                </a:solidFill>
              </a:rPr>
              <a:t>El seguimiento</a:t>
            </a:r>
            <a:endParaRPr lang="en-US" sz="1400" dirty="0"/>
          </a:p>
          <a:p>
            <a:pPr marL="342900" indent="-342900">
              <a:spcAft>
                <a:spcPts val="400"/>
              </a:spcAft>
              <a:buSzPct val="100000"/>
              <a:buChar char="•"/>
            </a:pPr>
            <a:r>
              <a:rPr lang="en-US" sz="1400" dirty="0">
                <a:solidFill>
                  <a:schemeClr val="tx1"/>
                </a:solidFill>
              </a:rPr>
              <a:t>Honorarios</a:t>
            </a:r>
            <a:endParaRPr lang="en-US" sz="1400" dirty="0"/>
          </a:p>
          <a:p>
            <a:pPr marL="342900" indent="-342900">
              <a:spcAft>
                <a:spcPts val="400"/>
              </a:spcAft>
              <a:buSzPct val="100000"/>
              <a:buChar char="•"/>
            </a:pPr>
            <a:r>
              <a:rPr lang="en-US" sz="1400" dirty="0">
                <a:solidFill>
                  <a:schemeClr val="tx1"/>
                </a:solidFill>
              </a:rPr>
              <a:t>Preguntas frecuentes</a:t>
            </a:r>
            <a:endParaRPr lang="en-US" sz="14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Primero, unos cimientos sólidos</a:t>
            </a:r>
            <a:endParaRPr lang="en-US" sz="2800" dirty="0"/>
          </a:p>
        </p:txBody>
      </p:sp>
      <p:sp>
        <p:nvSpPr>
          <p:cNvPr id="3" name="Escalón 1"/>
          <p:cNvSpPr/>
          <p:nvPr/>
        </p:nvSpPr>
        <p:spPr>
          <a:xfrm>
            <a:off x="457200" y="2148840"/>
            <a:ext cx="2560320" cy="2286000"/>
          </a:xfrm>
          <a:prstGeom prst="roundRect">
            <a:avLst>
              <a:gd name="adj" fmla="val 4800"/>
            </a:avLst>
          </a:prstGeom>
          <a:solidFill>
            <a:schemeClr val="bg2"/>
          </a:solidFill>
          <a:ln/>
        </p:spPr>
      </p:sp>
      <p:sp>
        <p:nvSpPr>
          <p:cNvPr id="4" name="Icono escalón 1"/>
          <p:cNvSpPr/>
          <p:nvPr/>
        </p:nvSpPr>
        <p:spPr>
          <a:xfrm>
            <a:off x="731520" y="2377440"/>
            <a:ext cx="548640" cy="548640"/>
          </a:xfrm>
          <a:prstGeom prst="ellipse">
            <a:avLst/>
          </a:prstGeom>
          <a:solidFill>
            <a:schemeClr val="accent1"/>
          </a:solidFill>
          <a:ln/>
        </p:spPr>
      </p:sp>
      <p:pic>
        <p:nvPicPr>
          <p:cNvPr id="5" name="Icono escalón 1 icono" descr="preencoded.png">    </p:cNvPr>
          <p:cNvPicPr>
            <a:picLocks noChangeAspect="1"/>
          </p:cNvPicPr>
          <p:nvPr/>
        </p:nvPicPr>
        <p:blipFill>
          <a:blip r:embed="rId1"/>
          <a:stretch>
            <a:fillRect/>
          </a:stretch>
        </p:blipFill>
        <p:spPr>
          <a:xfrm>
            <a:off x="868680" y="2514600"/>
            <a:ext cx="274320" cy="274320"/>
          </a:xfrm>
          <a:prstGeom prst="rect">
            <a:avLst/>
          </a:prstGeom>
        </p:spPr>
      </p:pic>
      <p:sp>
        <p:nvSpPr>
          <p:cNvPr id="6" name="Text 3"/>
          <p:cNvSpPr txBox="1"/>
          <p:nvPr/>
        </p:nvSpPr>
        <p:spPr>
          <a:xfrm>
            <a:off x="1417320" y="2377440"/>
            <a:ext cx="1508760" cy="548640"/>
          </a:xfrm>
          <a:prstGeom prst="rect">
            <a:avLst/>
          </a:prstGeom>
          <a:noFill/>
          <a:ln/>
        </p:spPr>
        <p:txBody>
          <a:bodyPr wrap="square" lIns="0" tIns="0" rIns="0" bIns="0" rtlCol="0" anchor="ctr"/>
          <a:lstStyle/>
          <a:p>
            <a:pPr indent="0" marL="0">
              <a:buNone/>
            </a:pPr>
            <a:r>
              <a:rPr lang="en-US" sz="1500" b="1" dirty="0">
                <a:solidFill>
                  <a:schemeClr val="tx2"/>
                </a:solidFill>
                <a:latin typeface="Arial" pitchFamily="34" charset="0"/>
                <a:ea typeface="Arial" pitchFamily="34" charset="-122"/>
                <a:cs typeface="Arial" pitchFamily="34" charset="-120"/>
              </a:rPr>
              <a:t>1. Controla tus gastos</a:t>
            </a:r>
            <a:endParaRPr lang="en-US" sz="1500" dirty="0"/>
          </a:p>
        </p:txBody>
      </p:sp>
      <p:sp>
        <p:nvSpPr>
          <p:cNvPr id="7" name="Text 4"/>
          <p:cNvSpPr txBox="1"/>
          <p:nvPr/>
        </p:nvSpPr>
        <p:spPr>
          <a:xfrm>
            <a:off x="731520" y="3063240"/>
            <a:ext cx="2057400" cy="1280160"/>
          </a:xfrm>
          <a:prstGeom prst="rect">
            <a:avLst/>
          </a:prstGeom>
          <a:noFill/>
          <a:ln/>
        </p:spPr>
        <p:txBody>
          <a:bodyPr wrap="square" lIns="0" tIns="0" rIns="0" bIns="0" rtlCol="0" anchor="t"/>
          <a:lstStyle/>
          <a:p>
            <a:pPr indent="0" marL="0">
              <a:buNone/>
            </a:pPr>
            <a:r>
              <a:rPr lang="en-US" sz="1400" dirty="0">
                <a:solidFill>
                  <a:schemeClr val="tx1"/>
                </a:solidFill>
              </a:rPr>
              <a:t>Saber cuánto entra y cuánto sale. Meta: ahorrar entre el 10 % y el 20 % de tus ingresos.</a:t>
            </a:r>
            <a:endParaRPr lang="en-US" sz="1400" dirty="0"/>
          </a:p>
        </p:txBody>
      </p:sp>
      <p:sp>
        <p:nvSpPr>
          <p:cNvPr id="8" name="Escalón 2"/>
          <p:cNvSpPr/>
          <p:nvPr/>
        </p:nvSpPr>
        <p:spPr>
          <a:xfrm>
            <a:off x="3291840" y="1783080"/>
            <a:ext cx="2560320" cy="2651760"/>
          </a:xfrm>
          <a:prstGeom prst="roundRect">
            <a:avLst>
              <a:gd name="adj" fmla="val 4286"/>
            </a:avLst>
          </a:prstGeom>
          <a:solidFill>
            <a:schemeClr val="bg2"/>
          </a:solidFill>
          <a:ln/>
        </p:spPr>
      </p:sp>
      <p:sp>
        <p:nvSpPr>
          <p:cNvPr id="9" name="Icono escalón 2"/>
          <p:cNvSpPr/>
          <p:nvPr/>
        </p:nvSpPr>
        <p:spPr>
          <a:xfrm>
            <a:off x="3566160" y="2011680"/>
            <a:ext cx="548640" cy="548640"/>
          </a:xfrm>
          <a:prstGeom prst="ellipse">
            <a:avLst/>
          </a:prstGeom>
          <a:solidFill>
            <a:schemeClr val="accent2"/>
          </a:solidFill>
          <a:ln/>
        </p:spPr>
      </p:sp>
      <p:pic>
        <p:nvPicPr>
          <p:cNvPr id="10" name="Icono escalón 2 icono" descr="preencoded.png">    </p:cNvPr>
          <p:cNvPicPr>
            <a:picLocks noChangeAspect="1"/>
          </p:cNvPicPr>
          <p:nvPr/>
        </p:nvPicPr>
        <p:blipFill>
          <a:blip r:embed="rId2"/>
          <a:stretch>
            <a:fillRect/>
          </a:stretch>
        </p:blipFill>
        <p:spPr>
          <a:xfrm>
            <a:off x="3703320" y="2148840"/>
            <a:ext cx="274320" cy="274320"/>
          </a:xfrm>
          <a:prstGeom prst="rect">
            <a:avLst/>
          </a:prstGeom>
        </p:spPr>
      </p:pic>
      <p:sp>
        <p:nvSpPr>
          <p:cNvPr id="11" name="Text 7"/>
          <p:cNvSpPr txBox="1"/>
          <p:nvPr/>
        </p:nvSpPr>
        <p:spPr>
          <a:xfrm>
            <a:off x="4251960" y="2011680"/>
            <a:ext cx="1508760" cy="548640"/>
          </a:xfrm>
          <a:prstGeom prst="rect">
            <a:avLst/>
          </a:prstGeom>
          <a:noFill/>
          <a:ln/>
        </p:spPr>
        <p:txBody>
          <a:bodyPr wrap="square" lIns="0" tIns="0" rIns="0" bIns="0" rtlCol="0" anchor="ctr"/>
          <a:lstStyle/>
          <a:p>
            <a:pPr indent="0" marL="0">
              <a:buNone/>
            </a:pPr>
            <a:r>
              <a:rPr lang="en-US" sz="1500" b="1" dirty="0">
                <a:solidFill>
                  <a:schemeClr val="tx2"/>
                </a:solidFill>
                <a:latin typeface="Arial" pitchFamily="34" charset="0"/>
                <a:ea typeface="Arial" pitchFamily="34" charset="-122"/>
                <a:cs typeface="Arial" pitchFamily="34" charset="-120"/>
              </a:rPr>
              <a:t>2. Crea un colchón</a:t>
            </a:r>
            <a:endParaRPr lang="en-US" sz="1500" dirty="0"/>
          </a:p>
        </p:txBody>
      </p:sp>
      <p:sp>
        <p:nvSpPr>
          <p:cNvPr id="12" name="Text 8"/>
          <p:cNvSpPr txBox="1"/>
          <p:nvPr/>
        </p:nvSpPr>
        <p:spPr>
          <a:xfrm>
            <a:off x="3566160" y="2697480"/>
            <a:ext cx="2057400" cy="1645920"/>
          </a:xfrm>
          <a:prstGeom prst="rect">
            <a:avLst/>
          </a:prstGeom>
          <a:noFill/>
          <a:ln/>
        </p:spPr>
        <p:txBody>
          <a:bodyPr wrap="square" lIns="0" tIns="0" rIns="0" bIns="0" rtlCol="0" anchor="t"/>
          <a:lstStyle/>
          <a:p>
            <a:pPr indent="0" marL="0">
              <a:buNone/>
            </a:pPr>
            <a:r>
              <a:rPr lang="en-US" sz="1400" dirty="0">
                <a:solidFill>
                  <a:schemeClr val="tx1"/>
                </a:solidFill>
              </a:rPr>
              <a:t>Entre 3 y 6 meses de gastos en una cuenta disponible, para imprevistos. Este dinero no se invierte.</a:t>
            </a:r>
            <a:endParaRPr lang="en-US" sz="1400" dirty="0"/>
          </a:p>
        </p:txBody>
      </p:sp>
      <p:sp>
        <p:nvSpPr>
          <p:cNvPr id="13" name="Escalón 3"/>
          <p:cNvSpPr/>
          <p:nvPr/>
        </p:nvSpPr>
        <p:spPr>
          <a:xfrm>
            <a:off x="6126480" y="1417320"/>
            <a:ext cx="2560320" cy="3017520"/>
          </a:xfrm>
          <a:prstGeom prst="roundRect">
            <a:avLst>
              <a:gd name="adj" fmla="val 4286"/>
            </a:avLst>
          </a:prstGeom>
          <a:solidFill>
            <a:schemeClr val="bg2"/>
          </a:solidFill>
          <a:ln/>
        </p:spPr>
      </p:sp>
      <p:sp>
        <p:nvSpPr>
          <p:cNvPr id="14" name="Icono escalón 3"/>
          <p:cNvSpPr/>
          <p:nvPr/>
        </p:nvSpPr>
        <p:spPr>
          <a:xfrm>
            <a:off x="6400800" y="1645920"/>
            <a:ext cx="548640" cy="548640"/>
          </a:xfrm>
          <a:prstGeom prst="ellipse">
            <a:avLst/>
          </a:prstGeom>
          <a:solidFill>
            <a:schemeClr val="accent3"/>
          </a:solidFill>
          <a:ln/>
        </p:spPr>
      </p:sp>
      <p:pic>
        <p:nvPicPr>
          <p:cNvPr id="15" name="Icono escalón 3 icono" descr="preencoded.png">    </p:cNvPr>
          <p:cNvPicPr>
            <a:picLocks noChangeAspect="1"/>
          </p:cNvPicPr>
          <p:nvPr/>
        </p:nvPicPr>
        <p:blipFill>
          <a:blip r:embed="rId3"/>
          <a:stretch>
            <a:fillRect/>
          </a:stretch>
        </p:blipFill>
        <p:spPr>
          <a:xfrm>
            <a:off x="6537960" y="1783080"/>
            <a:ext cx="274320" cy="274320"/>
          </a:xfrm>
          <a:prstGeom prst="rect">
            <a:avLst/>
          </a:prstGeom>
        </p:spPr>
      </p:pic>
      <p:sp>
        <p:nvSpPr>
          <p:cNvPr id="16" name="Text 11"/>
          <p:cNvSpPr txBox="1"/>
          <p:nvPr/>
        </p:nvSpPr>
        <p:spPr>
          <a:xfrm>
            <a:off x="7086600" y="1645920"/>
            <a:ext cx="1508760" cy="548640"/>
          </a:xfrm>
          <a:prstGeom prst="rect">
            <a:avLst/>
          </a:prstGeom>
          <a:noFill/>
          <a:ln/>
        </p:spPr>
        <p:txBody>
          <a:bodyPr wrap="square" lIns="0" tIns="0" rIns="0" bIns="0" rtlCol="0" anchor="ctr"/>
          <a:lstStyle/>
          <a:p>
            <a:pPr indent="0" marL="0">
              <a:buNone/>
            </a:pPr>
            <a:r>
              <a:rPr lang="en-US" sz="1500" b="1" dirty="0">
                <a:solidFill>
                  <a:schemeClr val="tx2"/>
                </a:solidFill>
                <a:latin typeface="Arial" pitchFamily="34" charset="0"/>
                <a:ea typeface="Arial" pitchFamily="34" charset="-122"/>
                <a:cs typeface="Arial" pitchFamily="34" charset="-120"/>
              </a:rPr>
              <a:t>3. Invierte el excedente</a:t>
            </a:r>
            <a:endParaRPr lang="en-US" sz="1500" dirty="0"/>
          </a:p>
        </p:txBody>
      </p:sp>
      <p:sp>
        <p:nvSpPr>
          <p:cNvPr id="17" name="Text 12"/>
          <p:cNvSpPr txBox="1"/>
          <p:nvPr/>
        </p:nvSpPr>
        <p:spPr>
          <a:xfrm>
            <a:off x="6400800" y="2331720"/>
            <a:ext cx="2057400" cy="2011680"/>
          </a:xfrm>
          <a:prstGeom prst="rect">
            <a:avLst/>
          </a:prstGeom>
          <a:noFill/>
          <a:ln/>
        </p:spPr>
        <p:txBody>
          <a:bodyPr wrap="square" lIns="0" tIns="0" rIns="0" bIns="0" rtlCol="0" anchor="t"/>
          <a:lstStyle/>
          <a:p>
            <a:pPr indent="0" marL="0">
              <a:buNone/>
            </a:pPr>
            <a:r>
              <a:rPr lang="en-US" sz="1400" dirty="0">
                <a:solidFill>
                  <a:schemeClr val="tx1"/>
                </a:solidFill>
              </a:rPr>
              <a:t>El dinero que no vas a necesitar en los próximos años es el que puede trabajar para ti.</a:t>
            </a:r>
            <a:endParaRPr lang="en-US" sz="1400" dirty="0"/>
          </a:p>
        </p:txBody>
      </p:sp>
      <p:sp>
        <p:nvSpPr>
          <p:cNvPr id="18" name="Text 13"/>
          <p:cNvSpPr txBox="1"/>
          <p:nvPr/>
        </p:nvSpPr>
        <p:spPr>
          <a:xfrm>
            <a:off x="457200" y="1188720"/>
            <a:ext cx="5120640" cy="548640"/>
          </a:xfrm>
          <a:prstGeom prst="rect">
            <a:avLst/>
          </a:prstGeom>
          <a:noFill/>
          <a:ln/>
        </p:spPr>
        <p:txBody>
          <a:bodyPr wrap="square" lIns="0" tIns="0" rIns="0" bIns="0" rtlCol="0" anchor="t"/>
          <a:lstStyle/>
          <a:p>
            <a:pPr indent="0" marL="0">
              <a:buNone/>
            </a:pPr>
            <a:r>
              <a:rPr lang="en-US" sz="1600" i="1" dirty="0">
                <a:solidFill>
                  <a:schemeClr val="accent2"/>
                </a:solidFill>
              </a:rPr>
              <a:t>Antes de invertir, asegúrate de tener los dos primeros escalones</a:t>
            </a:r>
            <a:endParaRPr lang="en-US" sz="16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La inflación: el dinero parado pierde valor</a:t>
            </a:r>
            <a:endParaRPr lang="en-US" sz="2800" dirty="0"/>
          </a:p>
        </p:txBody>
      </p:sp>
      <p:sp>
        <p:nvSpPr>
          <p:cNvPr id="3" name="Text 1"/>
          <p:cNvSpPr txBox="1"/>
          <p:nvPr/>
        </p:nvSpPr>
        <p:spPr>
          <a:xfrm>
            <a:off x="457200" y="1325880"/>
            <a:ext cx="2926080" cy="914400"/>
          </a:xfrm>
          <a:prstGeom prst="rect">
            <a:avLst/>
          </a:prstGeom>
          <a:noFill/>
          <a:ln/>
        </p:spPr>
        <p:txBody>
          <a:bodyPr wrap="square" lIns="0" tIns="0" rIns="0" bIns="0" rtlCol="0" anchor="t"/>
          <a:lstStyle/>
          <a:p>
            <a:pPr indent="0" marL="0">
              <a:buNone/>
            </a:pPr>
            <a:r>
              <a:rPr lang="en-US" sz="6000" b="1" dirty="0">
                <a:solidFill>
                  <a:schemeClr val="accent3"/>
                </a:solidFill>
                <a:latin typeface="Arial" pitchFamily="34" charset="0"/>
                <a:ea typeface="Arial" pitchFamily="34" charset="-122"/>
                <a:cs typeface="Arial" pitchFamily="34" charset="-120"/>
              </a:rPr>
              <a:t>−26 %</a:t>
            </a:r>
            <a:endParaRPr lang="en-US" sz="6000" dirty="0"/>
          </a:p>
        </p:txBody>
      </p:sp>
      <p:sp>
        <p:nvSpPr>
          <p:cNvPr id="4" name="Text 2"/>
          <p:cNvSpPr txBox="1"/>
          <p:nvPr/>
        </p:nvSpPr>
        <p:spPr>
          <a:xfrm>
            <a:off x="457200" y="2286000"/>
            <a:ext cx="2743200" cy="822960"/>
          </a:xfrm>
          <a:prstGeom prst="rect">
            <a:avLst/>
          </a:prstGeom>
          <a:noFill/>
          <a:ln/>
        </p:spPr>
        <p:txBody>
          <a:bodyPr wrap="square" lIns="0" tIns="0" rIns="0" bIns="0" rtlCol="0" anchor="t"/>
          <a:lstStyle/>
          <a:p>
            <a:pPr indent="0" marL="0">
              <a:buNone/>
            </a:pPr>
            <a:r>
              <a:rPr lang="en-US" sz="1600" dirty="0">
                <a:solidFill>
                  <a:schemeClr val="tx2"/>
                </a:solidFill>
              </a:rPr>
              <a:t>de poder de compra perdido en 10 años si los precios suben un 3 % al año</a:t>
            </a:r>
            <a:endParaRPr lang="en-US" sz="1600" dirty="0"/>
          </a:p>
        </p:txBody>
      </p:sp>
      <p:sp>
        <p:nvSpPr>
          <p:cNvPr id="5" name="Text 3"/>
          <p:cNvSpPr txBox="1"/>
          <p:nvPr/>
        </p:nvSpPr>
        <p:spPr>
          <a:xfrm>
            <a:off x="457200" y="3200400"/>
            <a:ext cx="2743200" cy="1005840"/>
          </a:xfrm>
          <a:prstGeom prst="rect">
            <a:avLst/>
          </a:prstGeom>
          <a:noFill/>
          <a:ln/>
        </p:spPr>
        <p:txBody>
          <a:bodyPr wrap="square" lIns="0" tIns="0" rIns="0" bIns="0" rtlCol="0" anchor="t"/>
          <a:lstStyle/>
          <a:p>
            <a:pPr indent="0" marL="0">
              <a:buNone/>
            </a:pPr>
            <a:r>
              <a:rPr lang="en-US" sz="1400" dirty="0">
                <a:solidFill>
                  <a:schemeClr val="tx1"/>
                </a:solidFill>
              </a:rPr>
              <a:t>Guardar el dinero «debajo del colchón» o en una cuenta sin remunerar parece seguro, pero cada año compra menos cosas.</a:t>
            </a:r>
            <a:endParaRPr lang="en-US" sz="1400" dirty="0"/>
          </a:p>
        </p:txBody>
      </p:sp>
      <p:graphicFrame>
        <p:nvGraphicFramePr>
          <p:cNvPr id="6" name="Chart 0" descr=""/>
          <p:cNvGraphicFramePr/>
          <p:nvPr/>
        </p:nvGraphicFramePr>
        <p:xfrm>
          <a:off x="3566160" y="1143000"/>
          <a:ext cx="5120640" cy="3154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000" i="1" dirty="0">
                <a:solidFill>
                  <a:schemeClr val="accent6"/>
                </a:solidFill>
              </a:rPr>
              <a:t>Ejemplo ilustrativo con una inflación constante del 3 % anual.</a:t>
            </a:r>
            <a:endParaRPr lang="en-US" sz="10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El interés compuesto: el tiempo trabaja para ti</a:t>
            </a:r>
            <a:endParaRPr lang="en-US" sz="2800" dirty="0"/>
          </a:p>
        </p:txBody>
      </p:sp>
      <p:graphicFrame>
        <p:nvGraphicFramePr>
          <p:cNvPr id="3" name="Chart 0" descr=""/>
          <p:cNvGraphicFramePr/>
          <p:nvPr/>
        </p:nvGraphicFramePr>
        <p:xfrm>
          <a:off x="365760" y="109728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4" name="Resumen ejemplo"/>
          <p:cNvSpPr/>
          <p:nvPr/>
        </p:nvSpPr>
        <p:spPr>
          <a:xfrm>
            <a:off x="5806440" y="1188720"/>
            <a:ext cx="2880360" cy="3017520"/>
          </a:xfrm>
          <a:prstGeom prst="roundRect">
            <a:avLst>
              <a:gd name="adj" fmla="val 3810"/>
            </a:avLst>
          </a:prstGeom>
          <a:solidFill>
            <a:schemeClr val="bg2"/>
          </a:solidFill>
          <a:ln/>
        </p:spPr>
      </p:sp>
      <p:sp>
        <p:nvSpPr>
          <p:cNvPr id="5" name="Text 2"/>
          <p:cNvSpPr txBox="1"/>
          <p:nvPr/>
        </p:nvSpPr>
        <p:spPr>
          <a:xfrm>
            <a:off x="6035040" y="1371600"/>
            <a:ext cx="2468880" cy="64008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Si inviertes 200 € al mes durante 30 años</a:t>
            </a:r>
            <a:endParaRPr lang="en-US" sz="1500" dirty="0"/>
          </a:p>
        </p:txBody>
      </p:sp>
      <p:sp>
        <p:nvSpPr>
          <p:cNvPr id="6" name="Text 3"/>
          <p:cNvSpPr txBox="1"/>
          <p:nvPr/>
        </p:nvSpPr>
        <p:spPr>
          <a:xfrm>
            <a:off x="6035040" y="2103120"/>
            <a:ext cx="2468880" cy="274320"/>
          </a:xfrm>
          <a:prstGeom prst="rect">
            <a:avLst/>
          </a:prstGeom>
          <a:noFill/>
          <a:ln/>
        </p:spPr>
        <p:txBody>
          <a:bodyPr wrap="square" lIns="0" tIns="0" rIns="0" bIns="0" rtlCol="0" anchor="t"/>
          <a:lstStyle/>
          <a:p>
            <a:pPr indent="0" marL="0">
              <a:buNone/>
            </a:pPr>
            <a:r>
              <a:rPr lang="en-US" sz="1400" dirty="0">
                <a:solidFill>
                  <a:schemeClr val="accent6"/>
                </a:solidFill>
              </a:rPr>
              <a:t>Aportas</a:t>
            </a:r>
            <a:endParaRPr lang="en-US" sz="1400" dirty="0"/>
          </a:p>
        </p:txBody>
      </p:sp>
      <p:sp>
        <p:nvSpPr>
          <p:cNvPr id="7" name="Text 4"/>
          <p:cNvSpPr txBox="1"/>
          <p:nvPr/>
        </p:nvSpPr>
        <p:spPr>
          <a:xfrm>
            <a:off x="6035040" y="2359152"/>
            <a:ext cx="246888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72.000 €</a:t>
            </a:r>
            <a:endParaRPr lang="en-US" sz="2600" dirty="0"/>
          </a:p>
        </p:txBody>
      </p:sp>
      <p:sp>
        <p:nvSpPr>
          <p:cNvPr id="8" name="Text 5"/>
          <p:cNvSpPr txBox="1"/>
          <p:nvPr/>
        </p:nvSpPr>
        <p:spPr>
          <a:xfrm>
            <a:off x="6035040" y="2926080"/>
            <a:ext cx="2468880" cy="274320"/>
          </a:xfrm>
          <a:prstGeom prst="rect">
            <a:avLst/>
          </a:prstGeom>
          <a:noFill/>
          <a:ln/>
        </p:spPr>
        <p:txBody>
          <a:bodyPr wrap="square" lIns="0" tIns="0" rIns="0" bIns="0" rtlCol="0" anchor="t"/>
          <a:lstStyle/>
          <a:p>
            <a:pPr indent="0" marL="0">
              <a:buNone/>
            </a:pPr>
            <a:r>
              <a:rPr lang="en-US" sz="1400" dirty="0">
                <a:solidFill>
                  <a:schemeClr val="accent6"/>
                </a:solidFill>
              </a:rPr>
              <a:t>Podrías tener</a:t>
            </a:r>
            <a:endParaRPr lang="en-US" sz="1400" dirty="0"/>
          </a:p>
        </p:txBody>
      </p:sp>
      <p:sp>
        <p:nvSpPr>
          <p:cNvPr id="9" name="Text 6"/>
          <p:cNvSpPr txBox="1"/>
          <p:nvPr/>
        </p:nvSpPr>
        <p:spPr>
          <a:xfrm>
            <a:off x="6035040" y="3182112"/>
            <a:ext cx="2468880" cy="457200"/>
          </a:xfrm>
          <a:prstGeom prst="rect">
            <a:avLst/>
          </a:prstGeom>
          <a:noFill/>
          <a:ln/>
        </p:spPr>
        <p:txBody>
          <a:bodyPr wrap="square" lIns="0" tIns="0" rIns="0" bIns="0" rtlCol="0" anchor="t"/>
          <a:lstStyle/>
          <a:p>
            <a:pPr indent="0" marL="0">
              <a:buNone/>
            </a:pPr>
            <a:r>
              <a:rPr lang="en-US" sz="2600" b="1" dirty="0">
                <a:solidFill>
                  <a:schemeClr val="accent3"/>
                </a:solidFill>
                <a:latin typeface="Arial" pitchFamily="34" charset="0"/>
                <a:ea typeface="Arial" pitchFamily="34" charset="-122"/>
                <a:cs typeface="Arial" pitchFamily="34" charset="-120"/>
              </a:rPr>
              <a:t>≈ 166.000 €</a:t>
            </a:r>
            <a:endParaRPr lang="en-US" sz="2600" dirty="0"/>
          </a:p>
        </p:txBody>
      </p:sp>
      <p:sp>
        <p:nvSpPr>
          <p:cNvPr id="10" name="Text 7"/>
          <p:cNvSpPr txBox="1"/>
          <p:nvPr/>
        </p:nvSpPr>
        <p:spPr>
          <a:xfrm>
            <a:off x="6035040" y="3657600"/>
            <a:ext cx="2468880" cy="457200"/>
          </a:xfrm>
          <a:prstGeom prst="rect">
            <a:avLst/>
          </a:prstGeom>
          <a:noFill/>
          <a:ln/>
        </p:spPr>
        <p:txBody>
          <a:bodyPr wrap="square" lIns="0" tIns="0" rIns="0" bIns="0" rtlCol="0" anchor="t"/>
          <a:lstStyle/>
          <a:p>
            <a:pPr indent="0" marL="0">
              <a:buNone/>
            </a:pPr>
            <a:r>
              <a:rPr lang="en-US" sz="1200" i="1" dirty="0">
                <a:solidFill>
                  <a:schemeClr val="tx2"/>
                </a:solidFill>
              </a:rPr>
              <a:t>Cuanto antes empiezas, más trabaja el tiempo</a:t>
            </a:r>
            <a:endParaRPr lang="en-US" sz="1200" dirty="0"/>
          </a:p>
        </p:txBody>
      </p:sp>
      <p:sp>
        <p:nvSpPr>
          <p:cNvPr id="11" name="Text 8"/>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000" i="1" dirty="0">
                <a:solidFill>
                  <a:schemeClr val="accent6"/>
                </a:solidFill>
              </a:rPr>
              <a:t>Ejemplo ilustrativo: rentabilidad constante del 5 % anual, sin impuestos ni costes. Las rentabilidades no están garantizadas.</a:t>
            </a:r>
            <a:endParaRPr lang="en-US" sz="10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Más rentabilidad esperada implica más altibajos</a:t>
            </a:r>
            <a:endParaRPr lang="en-US" sz="2800" dirty="0"/>
          </a:p>
        </p:txBody>
      </p:sp>
      <p:sp>
        <p:nvSpPr>
          <p:cNvPr id="3" name="Activo Liquidez"/>
          <p:cNvSpPr/>
          <p:nvPr/>
        </p:nvSpPr>
        <p:spPr>
          <a:xfrm>
            <a:off x="457200" y="1188720"/>
            <a:ext cx="2560320" cy="3063240"/>
          </a:xfrm>
          <a:prstGeom prst="roundRect">
            <a:avLst>
              <a:gd name="adj" fmla="val 4286"/>
            </a:avLst>
          </a:prstGeom>
          <a:solidFill>
            <a:schemeClr val="bg2"/>
          </a:solidFill>
          <a:ln/>
        </p:spPr>
      </p:sp>
      <p:sp>
        <p:nvSpPr>
          <p:cNvPr id="4" name="Icono Liquidez"/>
          <p:cNvSpPr/>
          <p:nvPr/>
        </p:nvSpPr>
        <p:spPr>
          <a:xfrm>
            <a:off x="731520" y="1371600"/>
            <a:ext cx="548640" cy="548640"/>
          </a:xfrm>
          <a:prstGeom prst="ellipse">
            <a:avLst/>
          </a:prstGeom>
          <a:solidFill>
            <a:schemeClr val="accent5"/>
          </a:solidFill>
          <a:ln/>
        </p:spPr>
      </p:sp>
      <p:pic>
        <p:nvPicPr>
          <p:cNvPr id="5" name="Icono Liquidez icono" descr="preencoded.png">    </p:cNvPr>
          <p:cNvPicPr>
            <a:picLocks noChangeAspect="1"/>
          </p:cNvPicPr>
          <p:nvPr/>
        </p:nvPicPr>
        <p:blipFill>
          <a:blip r:embed="rId1"/>
          <a:stretch>
            <a:fillRect/>
          </a:stretch>
        </p:blipFill>
        <p:spPr>
          <a:xfrm>
            <a:off x="868680" y="1508760"/>
            <a:ext cx="274320" cy="274320"/>
          </a:xfrm>
          <a:prstGeom prst="rect">
            <a:avLst/>
          </a:prstGeom>
        </p:spPr>
      </p:pic>
      <p:sp>
        <p:nvSpPr>
          <p:cNvPr id="6" name="Text 3"/>
          <p:cNvSpPr txBox="1"/>
          <p:nvPr/>
        </p:nvSpPr>
        <p:spPr>
          <a:xfrm>
            <a:off x="1417320" y="1371600"/>
            <a:ext cx="1554480" cy="548640"/>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Liquidez</a:t>
            </a:r>
            <a:endParaRPr lang="en-US" sz="1700" dirty="0"/>
          </a:p>
        </p:txBody>
      </p:sp>
      <p:sp>
        <p:nvSpPr>
          <p:cNvPr id="7" name="Text 4"/>
          <p:cNvSpPr txBox="1"/>
          <p:nvPr/>
        </p:nvSpPr>
        <p:spPr>
          <a:xfrm>
            <a:off x="731520" y="2057400"/>
            <a:ext cx="2057400" cy="960120"/>
          </a:xfrm>
          <a:prstGeom prst="rect">
            <a:avLst/>
          </a:prstGeom>
          <a:noFill/>
          <a:ln/>
        </p:spPr>
        <p:txBody>
          <a:bodyPr wrap="square" lIns="0" tIns="0" rIns="0" bIns="0" rtlCol="0" anchor="t"/>
          <a:lstStyle/>
          <a:p>
            <a:pPr indent="0" marL="0">
              <a:buNone/>
            </a:pPr>
            <a:r>
              <a:rPr lang="en-US" sz="1300" dirty="0">
                <a:solidFill>
                  <a:schemeClr val="tx1"/>
                </a:solidFill>
              </a:rPr>
              <a:t>Cuentas y depósitos. Dinero disponible y estable, pero rinde poco.</a:t>
            </a:r>
            <a:endParaRPr lang="en-US" sz="1300" dirty="0"/>
          </a:p>
        </p:txBody>
      </p:sp>
      <p:sp>
        <p:nvSpPr>
          <p:cNvPr id="8" name="Text 5"/>
          <p:cNvSpPr txBox="1"/>
          <p:nvPr/>
        </p:nvSpPr>
        <p:spPr>
          <a:xfrm>
            <a:off x="731520" y="3063240"/>
            <a:ext cx="1188720" cy="228600"/>
          </a:xfrm>
          <a:prstGeom prst="rect">
            <a:avLst/>
          </a:prstGeom>
          <a:noFill/>
          <a:ln/>
        </p:spPr>
        <p:txBody>
          <a:bodyPr wrap="square" lIns="0" tIns="0" rIns="0" bIns="0" rtlCol="0" anchor="ctr"/>
          <a:lstStyle/>
          <a:p>
            <a:pPr indent="0" marL="0">
              <a:buNone/>
            </a:pPr>
            <a:r>
              <a:rPr lang="en-US" sz="1100" dirty="0">
                <a:solidFill>
                  <a:schemeClr val="accent6"/>
                </a:solidFill>
              </a:rPr>
              <a:t>Rentabilidad</a:t>
            </a:r>
            <a:endParaRPr lang="en-US" sz="1100" dirty="0"/>
          </a:p>
        </p:txBody>
      </p:sp>
      <p:sp>
        <p:nvSpPr>
          <p:cNvPr id="9" name="Rentabilidad Liquidez 1"/>
          <p:cNvSpPr/>
          <p:nvPr/>
        </p:nvSpPr>
        <p:spPr>
          <a:xfrm>
            <a:off x="1920240" y="3108960"/>
            <a:ext cx="137160" cy="137160"/>
          </a:xfrm>
          <a:prstGeom prst="ellipse">
            <a:avLst/>
          </a:prstGeom>
          <a:solidFill>
            <a:schemeClr val="accent5"/>
          </a:solidFill>
          <a:ln/>
        </p:spPr>
      </p:sp>
      <p:sp>
        <p:nvSpPr>
          <p:cNvPr id="10" name="Rentabilidad Liquidez 2"/>
          <p:cNvSpPr/>
          <p:nvPr/>
        </p:nvSpPr>
        <p:spPr>
          <a:xfrm>
            <a:off x="2093976" y="3108960"/>
            <a:ext cx="137160" cy="137160"/>
          </a:xfrm>
          <a:prstGeom prst="ellipse">
            <a:avLst/>
          </a:prstGeom>
          <a:solidFill>
            <a:srgbClr val="D9DBE7"/>
          </a:solidFill>
          <a:ln/>
        </p:spPr>
      </p:sp>
      <p:sp>
        <p:nvSpPr>
          <p:cNvPr id="11" name="Rentabilidad Liquidez 3"/>
          <p:cNvSpPr/>
          <p:nvPr/>
        </p:nvSpPr>
        <p:spPr>
          <a:xfrm>
            <a:off x="2267712" y="3108960"/>
            <a:ext cx="137160" cy="137160"/>
          </a:xfrm>
          <a:prstGeom prst="ellipse">
            <a:avLst/>
          </a:prstGeom>
          <a:solidFill>
            <a:srgbClr val="D9DBE7"/>
          </a:solidFill>
          <a:ln/>
        </p:spPr>
      </p:sp>
      <p:sp>
        <p:nvSpPr>
          <p:cNvPr id="12" name="Rentabilidad Liquidez 4"/>
          <p:cNvSpPr/>
          <p:nvPr/>
        </p:nvSpPr>
        <p:spPr>
          <a:xfrm>
            <a:off x="2441448" y="3108960"/>
            <a:ext cx="137160" cy="137160"/>
          </a:xfrm>
          <a:prstGeom prst="ellipse">
            <a:avLst/>
          </a:prstGeom>
          <a:solidFill>
            <a:srgbClr val="D9DBE7"/>
          </a:solidFill>
          <a:ln/>
        </p:spPr>
      </p:sp>
      <p:sp>
        <p:nvSpPr>
          <p:cNvPr id="13" name="Rentabilidad Liquidez 5"/>
          <p:cNvSpPr/>
          <p:nvPr/>
        </p:nvSpPr>
        <p:spPr>
          <a:xfrm>
            <a:off x="2615184" y="3108960"/>
            <a:ext cx="137160" cy="137160"/>
          </a:xfrm>
          <a:prstGeom prst="ellipse">
            <a:avLst/>
          </a:prstGeom>
          <a:solidFill>
            <a:srgbClr val="D9DBE7"/>
          </a:solidFill>
          <a:ln/>
        </p:spPr>
      </p:sp>
      <p:sp>
        <p:nvSpPr>
          <p:cNvPr id="14" name="Text 11"/>
          <p:cNvSpPr txBox="1"/>
          <p:nvPr/>
        </p:nvSpPr>
        <p:spPr>
          <a:xfrm>
            <a:off x="731520" y="3337560"/>
            <a:ext cx="1188720" cy="228600"/>
          </a:xfrm>
          <a:prstGeom prst="rect">
            <a:avLst/>
          </a:prstGeom>
          <a:noFill/>
          <a:ln/>
        </p:spPr>
        <p:txBody>
          <a:bodyPr wrap="square" lIns="0" tIns="0" rIns="0" bIns="0" rtlCol="0" anchor="ctr"/>
          <a:lstStyle/>
          <a:p>
            <a:pPr indent="0" marL="0">
              <a:buNone/>
            </a:pPr>
            <a:r>
              <a:rPr lang="en-US" sz="1100" dirty="0">
                <a:solidFill>
                  <a:schemeClr val="accent6"/>
                </a:solidFill>
              </a:rPr>
              <a:t>Altibajos</a:t>
            </a:r>
            <a:endParaRPr lang="en-US" sz="1100" dirty="0"/>
          </a:p>
        </p:txBody>
      </p:sp>
      <p:sp>
        <p:nvSpPr>
          <p:cNvPr id="15" name="Altibajos Liquidez 1"/>
          <p:cNvSpPr/>
          <p:nvPr/>
        </p:nvSpPr>
        <p:spPr>
          <a:xfrm>
            <a:off x="1920240" y="3383280"/>
            <a:ext cx="137160" cy="137160"/>
          </a:xfrm>
          <a:prstGeom prst="ellipse">
            <a:avLst/>
          </a:prstGeom>
          <a:solidFill>
            <a:schemeClr val="accent5"/>
          </a:solidFill>
          <a:ln/>
        </p:spPr>
      </p:sp>
      <p:sp>
        <p:nvSpPr>
          <p:cNvPr id="16" name="Altibajos Liquidez 2"/>
          <p:cNvSpPr/>
          <p:nvPr/>
        </p:nvSpPr>
        <p:spPr>
          <a:xfrm>
            <a:off x="2093976" y="3383280"/>
            <a:ext cx="137160" cy="137160"/>
          </a:xfrm>
          <a:prstGeom prst="ellipse">
            <a:avLst/>
          </a:prstGeom>
          <a:solidFill>
            <a:srgbClr val="D9DBE7"/>
          </a:solidFill>
          <a:ln/>
        </p:spPr>
      </p:sp>
      <p:sp>
        <p:nvSpPr>
          <p:cNvPr id="17" name="Altibajos Liquidez 3"/>
          <p:cNvSpPr/>
          <p:nvPr/>
        </p:nvSpPr>
        <p:spPr>
          <a:xfrm>
            <a:off x="2267712" y="3383280"/>
            <a:ext cx="137160" cy="137160"/>
          </a:xfrm>
          <a:prstGeom prst="ellipse">
            <a:avLst/>
          </a:prstGeom>
          <a:solidFill>
            <a:srgbClr val="D9DBE7"/>
          </a:solidFill>
          <a:ln/>
        </p:spPr>
      </p:sp>
      <p:sp>
        <p:nvSpPr>
          <p:cNvPr id="18" name="Altibajos Liquidez 4"/>
          <p:cNvSpPr/>
          <p:nvPr/>
        </p:nvSpPr>
        <p:spPr>
          <a:xfrm>
            <a:off x="2441448" y="3383280"/>
            <a:ext cx="137160" cy="137160"/>
          </a:xfrm>
          <a:prstGeom prst="ellipse">
            <a:avLst/>
          </a:prstGeom>
          <a:solidFill>
            <a:srgbClr val="D9DBE7"/>
          </a:solidFill>
          <a:ln/>
        </p:spPr>
      </p:sp>
      <p:sp>
        <p:nvSpPr>
          <p:cNvPr id="19" name="Altibajos Liquidez 5"/>
          <p:cNvSpPr/>
          <p:nvPr/>
        </p:nvSpPr>
        <p:spPr>
          <a:xfrm>
            <a:off x="2615184" y="3383280"/>
            <a:ext cx="137160" cy="137160"/>
          </a:xfrm>
          <a:prstGeom prst="ellipse">
            <a:avLst/>
          </a:prstGeom>
          <a:solidFill>
            <a:srgbClr val="D9DBE7"/>
          </a:solidFill>
          <a:ln/>
        </p:spPr>
      </p:sp>
      <p:sp>
        <p:nvSpPr>
          <p:cNvPr id="20" name="Text 17"/>
          <p:cNvSpPr txBox="1"/>
          <p:nvPr/>
        </p:nvSpPr>
        <p:spPr>
          <a:xfrm>
            <a:off x="731520" y="3703320"/>
            <a:ext cx="2103120" cy="274320"/>
          </a:xfrm>
          <a:prstGeom prst="rect">
            <a:avLst/>
          </a:prstGeom>
          <a:noFill/>
          <a:ln/>
        </p:spPr>
        <p:txBody>
          <a:bodyPr wrap="square" lIns="0" tIns="0" rIns="0" bIns="0" rtlCol="0" anchor="t"/>
          <a:lstStyle/>
          <a:p>
            <a:pPr indent="0" marL="0">
              <a:buNone/>
            </a:pPr>
            <a:r>
              <a:rPr lang="en-US" sz="1300" b="1" dirty="0">
                <a:solidFill>
                  <a:schemeClr val="tx2"/>
                </a:solidFill>
              </a:rPr>
              <a:t>Plazo: </a:t>
            </a:r>
            <a:pPr indent="0" marL="0">
              <a:buNone/>
            </a:pPr>
            <a:r>
              <a:rPr lang="en-US" sz="1300" dirty="0">
                <a:solidFill>
                  <a:schemeClr val="tx2"/>
                </a:solidFill>
              </a:rPr>
              <a:t>Corto plazo</a:t>
            </a:r>
            <a:endParaRPr lang="en-US" sz="1300" dirty="0"/>
          </a:p>
        </p:txBody>
      </p:sp>
      <p:sp>
        <p:nvSpPr>
          <p:cNvPr id="21" name="Activo Renta fija"/>
          <p:cNvSpPr/>
          <p:nvPr/>
        </p:nvSpPr>
        <p:spPr>
          <a:xfrm>
            <a:off x="3291840" y="1188720"/>
            <a:ext cx="2560320" cy="3063240"/>
          </a:xfrm>
          <a:prstGeom prst="roundRect">
            <a:avLst>
              <a:gd name="adj" fmla="val 4286"/>
            </a:avLst>
          </a:prstGeom>
          <a:solidFill>
            <a:schemeClr val="bg2"/>
          </a:solidFill>
          <a:ln/>
        </p:spPr>
      </p:sp>
      <p:sp>
        <p:nvSpPr>
          <p:cNvPr id="22" name="Icono Renta fija"/>
          <p:cNvSpPr/>
          <p:nvPr/>
        </p:nvSpPr>
        <p:spPr>
          <a:xfrm>
            <a:off x="3566160" y="1371600"/>
            <a:ext cx="548640" cy="548640"/>
          </a:xfrm>
          <a:prstGeom prst="ellipse">
            <a:avLst/>
          </a:prstGeom>
          <a:solidFill>
            <a:schemeClr val="accent1"/>
          </a:solidFill>
          <a:ln/>
        </p:spPr>
      </p:sp>
      <p:pic>
        <p:nvPicPr>
          <p:cNvPr id="23" name="Icono Renta fija icono" descr="preencoded.png">    </p:cNvPr>
          <p:cNvPicPr>
            <a:picLocks noChangeAspect="1"/>
          </p:cNvPicPr>
          <p:nvPr/>
        </p:nvPicPr>
        <p:blipFill>
          <a:blip r:embed="rId2"/>
          <a:stretch>
            <a:fillRect/>
          </a:stretch>
        </p:blipFill>
        <p:spPr>
          <a:xfrm>
            <a:off x="3703320" y="1508760"/>
            <a:ext cx="274320" cy="274320"/>
          </a:xfrm>
          <a:prstGeom prst="rect">
            <a:avLst/>
          </a:prstGeom>
        </p:spPr>
      </p:pic>
      <p:sp>
        <p:nvSpPr>
          <p:cNvPr id="24" name="Text 20"/>
          <p:cNvSpPr txBox="1"/>
          <p:nvPr/>
        </p:nvSpPr>
        <p:spPr>
          <a:xfrm>
            <a:off x="4251960" y="1371600"/>
            <a:ext cx="1554480" cy="548640"/>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Renta fija</a:t>
            </a:r>
            <a:endParaRPr lang="en-US" sz="1700" dirty="0"/>
          </a:p>
        </p:txBody>
      </p:sp>
      <p:sp>
        <p:nvSpPr>
          <p:cNvPr id="25" name="Text 21"/>
          <p:cNvSpPr txBox="1"/>
          <p:nvPr/>
        </p:nvSpPr>
        <p:spPr>
          <a:xfrm>
            <a:off x="3566160" y="2057400"/>
            <a:ext cx="2057400" cy="960120"/>
          </a:xfrm>
          <a:prstGeom prst="rect">
            <a:avLst/>
          </a:prstGeom>
          <a:noFill/>
          <a:ln/>
        </p:spPr>
        <p:txBody>
          <a:bodyPr wrap="square" lIns="0" tIns="0" rIns="0" bIns="0" rtlCol="0" anchor="t"/>
          <a:lstStyle/>
          <a:p>
            <a:pPr indent="0" marL="0">
              <a:buNone/>
            </a:pPr>
            <a:r>
              <a:rPr lang="en-US" sz="1300" dirty="0">
                <a:solidFill>
                  <a:schemeClr val="tx1"/>
                </a:solidFill>
              </a:rPr>
              <a:t>Prestas dinero a gobiernos o empresas a cambio de un interés.</a:t>
            </a:r>
            <a:endParaRPr lang="en-US" sz="1300" dirty="0"/>
          </a:p>
        </p:txBody>
      </p:sp>
      <p:sp>
        <p:nvSpPr>
          <p:cNvPr id="26" name="Text 22"/>
          <p:cNvSpPr txBox="1"/>
          <p:nvPr/>
        </p:nvSpPr>
        <p:spPr>
          <a:xfrm>
            <a:off x="3566160" y="3063240"/>
            <a:ext cx="1188720" cy="228600"/>
          </a:xfrm>
          <a:prstGeom prst="rect">
            <a:avLst/>
          </a:prstGeom>
          <a:noFill/>
          <a:ln/>
        </p:spPr>
        <p:txBody>
          <a:bodyPr wrap="square" lIns="0" tIns="0" rIns="0" bIns="0" rtlCol="0" anchor="ctr"/>
          <a:lstStyle/>
          <a:p>
            <a:pPr indent="0" marL="0">
              <a:buNone/>
            </a:pPr>
            <a:r>
              <a:rPr lang="en-US" sz="1100" dirty="0">
                <a:solidFill>
                  <a:schemeClr val="accent6"/>
                </a:solidFill>
              </a:rPr>
              <a:t>Rentabilidad</a:t>
            </a:r>
            <a:endParaRPr lang="en-US" sz="1100" dirty="0"/>
          </a:p>
        </p:txBody>
      </p:sp>
      <p:sp>
        <p:nvSpPr>
          <p:cNvPr id="27" name="Rentabilidad Renta fija 1"/>
          <p:cNvSpPr/>
          <p:nvPr/>
        </p:nvSpPr>
        <p:spPr>
          <a:xfrm>
            <a:off x="4754880" y="3108960"/>
            <a:ext cx="137160" cy="137160"/>
          </a:xfrm>
          <a:prstGeom prst="ellipse">
            <a:avLst/>
          </a:prstGeom>
          <a:solidFill>
            <a:schemeClr val="accent1"/>
          </a:solidFill>
          <a:ln/>
        </p:spPr>
      </p:sp>
      <p:sp>
        <p:nvSpPr>
          <p:cNvPr id="28" name="Rentabilidad Renta fija 2"/>
          <p:cNvSpPr/>
          <p:nvPr/>
        </p:nvSpPr>
        <p:spPr>
          <a:xfrm>
            <a:off x="4928616" y="3108960"/>
            <a:ext cx="137160" cy="137160"/>
          </a:xfrm>
          <a:prstGeom prst="ellipse">
            <a:avLst/>
          </a:prstGeom>
          <a:solidFill>
            <a:schemeClr val="accent1"/>
          </a:solidFill>
          <a:ln/>
        </p:spPr>
      </p:sp>
      <p:sp>
        <p:nvSpPr>
          <p:cNvPr id="29" name="Rentabilidad Renta fija 3"/>
          <p:cNvSpPr/>
          <p:nvPr/>
        </p:nvSpPr>
        <p:spPr>
          <a:xfrm>
            <a:off x="5102352" y="3108960"/>
            <a:ext cx="137160" cy="137160"/>
          </a:xfrm>
          <a:prstGeom prst="ellipse">
            <a:avLst/>
          </a:prstGeom>
          <a:solidFill>
            <a:srgbClr val="D9DBE7"/>
          </a:solidFill>
          <a:ln/>
        </p:spPr>
      </p:sp>
      <p:sp>
        <p:nvSpPr>
          <p:cNvPr id="30" name="Rentabilidad Renta fija 4"/>
          <p:cNvSpPr/>
          <p:nvPr/>
        </p:nvSpPr>
        <p:spPr>
          <a:xfrm>
            <a:off x="5276088" y="3108960"/>
            <a:ext cx="137160" cy="137160"/>
          </a:xfrm>
          <a:prstGeom prst="ellipse">
            <a:avLst/>
          </a:prstGeom>
          <a:solidFill>
            <a:srgbClr val="D9DBE7"/>
          </a:solidFill>
          <a:ln/>
        </p:spPr>
      </p:sp>
      <p:sp>
        <p:nvSpPr>
          <p:cNvPr id="31" name="Rentabilidad Renta fija 5"/>
          <p:cNvSpPr/>
          <p:nvPr/>
        </p:nvSpPr>
        <p:spPr>
          <a:xfrm>
            <a:off x="5449824" y="3108960"/>
            <a:ext cx="137160" cy="137160"/>
          </a:xfrm>
          <a:prstGeom prst="ellipse">
            <a:avLst/>
          </a:prstGeom>
          <a:solidFill>
            <a:srgbClr val="D9DBE7"/>
          </a:solidFill>
          <a:ln/>
        </p:spPr>
      </p:sp>
      <p:sp>
        <p:nvSpPr>
          <p:cNvPr id="32" name="Text 28"/>
          <p:cNvSpPr txBox="1"/>
          <p:nvPr/>
        </p:nvSpPr>
        <p:spPr>
          <a:xfrm>
            <a:off x="3566160" y="3337560"/>
            <a:ext cx="1188720" cy="228600"/>
          </a:xfrm>
          <a:prstGeom prst="rect">
            <a:avLst/>
          </a:prstGeom>
          <a:noFill/>
          <a:ln/>
        </p:spPr>
        <p:txBody>
          <a:bodyPr wrap="square" lIns="0" tIns="0" rIns="0" bIns="0" rtlCol="0" anchor="ctr"/>
          <a:lstStyle/>
          <a:p>
            <a:pPr indent="0" marL="0">
              <a:buNone/>
            </a:pPr>
            <a:r>
              <a:rPr lang="en-US" sz="1100" dirty="0">
                <a:solidFill>
                  <a:schemeClr val="accent6"/>
                </a:solidFill>
              </a:rPr>
              <a:t>Altibajos</a:t>
            </a:r>
            <a:endParaRPr lang="en-US" sz="1100" dirty="0"/>
          </a:p>
        </p:txBody>
      </p:sp>
      <p:sp>
        <p:nvSpPr>
          <p:cNvPr id="33" name="Altibajos Renta fija 1"/>
          <p:cNvSpPr/>
          <p:nvPr/>
        </p:nvSpPr>
        <p:spPr>
          <a:xfrm>
            <a:off x="4754880" y="3383280"/>
            <a:ext cx="137160" cy="137160"/>
          </a:xfrm>
          <a:prstGeom prst="ellipse">
            <a:avLst/>
          </a:prstGeom>
          <a:solidFill>
            <a:schemeClr val="accent1"/>
          </a:solidFill>
          <a:ln/>
        </p:spPr>
      </p:sp>
      <p:sp>
        <p:nvSpPr>
          <p:cNvPr id="34" name="Altibajos Renta fija 2"/>
          <p:cNvSpPr/>
          <p:nvPr/>
        </p:nvSpPr>
        <p:spPr>
          <a:xfrm>
            <a:off x="4928616" y="3383280"/>
            <a:ext cx="137160" cy="137160"/>
          </a:xfrm>
          <a:prstGeom prst="ellipse">
            <a:avLst/>
          </a:prstGeom>
          <a:solidFill>
            <a:schemeClr val="accent1"/>
          </a:solidFill>
          <a:ln/>
        </p:spPr>
      </p:sp>
      <p:sp>
        <p:nvSpPr>
          <p:cNvPr id="35" name="Altibajos Renta fija 3"/>
          <p:cNvSpPr/>
          <p:nvPr/>
        </p:nvSpPr>
        <p:spPr>
          <a:xfrm>
            <a:off x="5102352" y="3383280"/>
            <a:ext cx="137160" cy="137160"/>
          </a:xfrm>
          <a:prstGeom prst="ellipse">
            <a:avLst/>
          </a:prstGeom>
          <a:solidFill>
            <a:srgbClr val="D9DBE7"/>
          </a:solidFill>
          <a:ln/>
        </p:spPr>
      </p:sp>
      <p:sp>
        <p:nvSpPr>
          <p:cNvPr id="36" name="Altibajos Renta fija 4"/>
          <p:cNvSpPr/>
          <p:nvPr/>
        </p:nvSpPr>
        <p:spPr>
          <a:xfrm>
            <a:off x="5276088" y="3383280"/>
            <a:ext cx="137160" cy="137160"/>
          </a:xfrm>
          <a:prstGeom prst="ellipse">
            <a:avLst/>
          </a:prstGeom>
          <a:solidFill>
            <a:srgbClr val="D9DBE7"/>
          </a:solidFill>
          <a:ln/>
        </p:spPr>
      </p:sp>
      <p:sp>
        <p:nvSpPr>
          <p:cNvPr id="37" name="Altibajos Renta fija 5"/>
          <p:cNvSpPr/>
          <p:nvPr/>
        </p:nvSpPr>
        <p:spPr>
          <a:xfrm>
            <a:off x="5449824" y="3383280"/>
            <a:ext cx="137160" cy="137160"/>
          </a:xfrm>
          <a:prstGeom prst="ellipse">
            <a:avLst/>
          </a:prstGeom>
          <a:solidFill>
            <a:srgbClr val="D9DBE7"/>
          </a:solidFill>
          <a:ln/>
        </p:spPr>
      </p:sp>
      <p:sp>
        <p:nvSpPr>
          <p:cNvPr id="38" name="Text 34"/>
          <p:cNvSpPr txBox="1"/>
          <p:nvPr/>
        </p:nvSpPr>
        <p:spPr>
          <a:xfrm>
            <a:off x="3566160" y="3703320"/>
            <a:ext cx="2103120" cy="274320"/>
          </a:xfrm>
          <a:prstGeom prst="rect">
            <a:avLst/>
          </a:prstGeom>
          <a:noFill/>
          <a:ln/>
        </p:spPr>
        <p:txBody>
          <a:bodyPr wrap="square" lIns="0" tIns="0" rIns="0" bIns="0" rtlCol="0" anchor="t"/>
          <a:lstStyle/>
          <a:p>
            <a:pPr indent="0" marL="0">
              <a:buNone/>
            </a:pPr>
            <a:r>
              <a:rPr lang="en-US" sz="1300" b="1" dirty="0">
                <a:solidFill>
                  <a:schemeClr val="tx2"/>
                </a:solidFill>
              </a:rPr>
              <a:t>Plazo: </a:t>
            </a:r>
            <a:pPr indent="0" marL="0">
              <a:buNone/>
            </a:pPr>
            <a:r>
              <a:rPr lang="en-US" sz="1300" dirty="0">
                <a:solidFill>
                  <a:schemeClr val="tx2"/>
                </a:solidFill>
              </a:rPr>
              <a:t>2 a 5 años</a:t>
            </a:r>
            <a:endParaRPr lang="en-US" sz="1300" dirty="0"/>
          </a:p>
        </p:txBody>
      </p:sp>
      <p:sp>
        <p:nvSpPr>
          <p:cNvPr id="39" name="Activo Renta variable"/>
          <p:cNvSpPr/>
          <p:nvPr/>
        </p:nvSpPr>
        <p:spPr>
          <a:xfrm>
            <a:off x="6126480" y="1188720"/>
            <a:ext cx="2560320" cy="3063240"/>
          </a:xfrm>
          <a:prstGeom prst="roundRect">
            <a:avLst>
              <a:gd name="adj" fmla="val 4286"/>
            </a:avLst>
          </a:prstGeom>
          <a:solidFill>
            <a:schemeClr val="bg2"/>
          </a:solidFill>
          <a:ln/>
        </p:spPr>
      </p:sp>
      <p:sp>
        <p:nvSpPr>
          <p:cNvPr id="40" name="Icono Renta variable"/>
          <p:cNvSpPr/>
          <p:nvPr/>
        </p:nvSpPr>
        <p:spPr>
          <a:xfrm>
            <a:off x="6400800" y="1371600"/>
            <a:ext cx="548640" cy="548640"/>
          </a:xfrm>
          <a:prstGeom prst="ellipse">
            <a:avLst/>
          </a:prstGeom>
          <a:solidFill>
            <a:schemeClr val="accent3"/>
          </a:solidFill>
          <a:ln/>
        </p:spPr>
      </p:sp>
      <p:pic>
        <p:nvPicPr>
          <p:cNvPr id="41" name="Icono Renta variable icono" descr="preencoded.png">    </p:cNvPr>
          <p:cNvPicPr>
            <a:picLocks noChangeAspect="1"/>
          </p:cNvPicPr>
          <p:nvPr/>
        </p:nvPicPr>
        <p:blipFill>
          <a:blip r:embed="rId3"/>
          <a:stretch>
            <a:fillRect/>
          </a:stretch>
        </p:blipFill>
        <p:spPr>
          <a:xfrm>
            <a:off x="6537960" y="1508760"/>
            <a:ext cx="274320" cy="274320"/>
          </a:xfrm>
          <a:prstGeom prst="rect">
            <a:avLst/>
          </a:prstGeom>
        </p:spPr>
      </p:pic>
      <p:sp>
        <p:nvSpPr>
          <p:cNvPr id="42" name="Text 37"/>
          <p:cNvSpPr txBox="1"/>
          <p:nvPr/>
        </p:nvSpPr>
        <p:spPr>
          <a:xfrm>
            <a:off x="7086600" y="1371600"/>
            <a:ext cx="1554480" cy="548640"/>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Renta variable</a:t>
            </a:r>
            <a:endParaRPr lang="en-US" sz="1700" dirty="0"/>
          </a:p>
        </p:txBody>
      </p:sp>
      <p:sp>
        <p:nvSpPr>
          <p:cNvPr id="43" name="Text 38"/>
          <p:cNvSpPr txBox="1"/>
          <p:nvPr/>
        </p:nvSpPr>
        <p:spPr>
          <a:xfrm>
            <a:off x="6400800" y="2057400"/>
            <a:ext cx="2057400" cy="960120"/>
          </a:xfrm>
          <a:prstGeom prst="rect">
            <a:avLst/>
          </a:prstGeom>
          <a:noFill/>
          <a:ln/>
        </p:spPr>
        <p:txBody>
          <a:bodyPr wrap="square" lIns="0" tIns="0" rIns="0" bIns="0" rtlCol="0" anchor="t"/>
          <a:lstStyle/>
          <a:p>
            <a:pPr indent="0" marL="0">
              <a:buNone/>
            </a:pPr>
            <a:r>
              <a:rPr lang="en-US" sz="1300" dirty="0">
                <a:solidFill>
                  <a:schemeClr val="tx1"/>
                </a:solidFill>
              </a:rPr>
              <a:t>Eres socio de empresas (acciones). Más crecimiento a largo plazo, con más subidas y bajadas.</a:t>
            </a:r>
            <a:endParaRPr lang="en-US" sz="1300" dirty="0"/>
          </a:p>
        </p:txBody>
      </p:sp>
      <p:sp>
        <p:nvSpPr>
          <p:cNvPr id="44" name="Text 39"/>
          <p:cNvSpPr txBox="1"/>
          <p:nvPr/>
        </p:nvSpPr>
        <p:spPr>
          <a:xfrm>
            <a:off x="6400800" y="3063240"/>
            <a:ext cx="1188720" cy="228600"/>
          </a:xfrm>
          <a:prstGeom prst="rect">
            <a:avLst/>
          </a:prstGeom>
          <a:noFill/>
          <a:ln/>
        </p:spPr>
        <p:txBody>
          <a:bodyPr wrap="square" lIns="0" tIns="0" rIns="0" bIns="0" rtlCol="0" anchor="ctr"/>
          <a:lstStyle/>
          <a:p>
            <a:pPr indent="0" marL="0">
              <a:buNone/>
            </a:pPr>
            <a:r>
              <a:rPr lang="en-US" sz="1100" dirty="0">
                <a:solidFill>
                  <a:schemeClr val="accent6"/>
                </a:solidFill>
              </a:rPr>
              <a:t>Rentabilidad</a:t>
            </a:r>
            <a:endParaRPr lang="en-US" sz="1100" dirty="0"/>
          </a:p>
        </p:txBody>
      </p:sp>
      <p:sp>
        <p:nvSpPr>
          <p:cNvPr id="45" name="Rentabilidad Renta variable 1"/>
          <p:cNvSpPr/>
          <p:nvPr/>
        </p:nvSpPr>
        <p:spPr>
          <a:xfrm>
            <a:off x="7589520" y="3108960"/>
            <a:ext cx="137160" cy="137160"/>
          </a:xfrm>
          <a:prstGeom prst="ellipse">
            <a:avLst/>
          </a:prstGeom>
          <a:solidFill>
            <a:schemeClr val="accent3"/>
          </a:solidFill>
          <a:ln/>
        </p:spPr>
      </p:sp>
      <p:sp>
        <p:nvSpPr>
          <p:cNvPr id="46" name="Rentabilidad Renta variable 2"/>
          <p:cNvSpPr/>
          <p:nvPr/>
        </p:nvSpPr>
        <p:spPr>
          <a:xfrm>
            <a:off x="7763256" y="3108960"/>
            <a:ext cx="137160" cy="137160"/>
          </a:xfrm>
          <a:prstGeom prst="ellipse">
            <a:avLst/>
          </a:prstGeom>
          <a:solidFill>
            <a:schemeClr val="accent3"/>
          </a:solidFill>
          <a:ln/>
        </p:spPr>
      </p:sp>
      <p:sp>
        <p:nvSpPr>
          <p:cNvPr id="47" name="Rentabilidad Renta variable 3"/>
          <p:cNvSpPr/>
          <p:nvPr/>
        </p:nvSpPr>
        <p:spPr>
          <a:xfrm>
            <a:off x="7936992" y="3108960"/>
            <a:ext cx="137160" cy="137160"/>
          </a:xfrm>
          <a:prstGeom prst="ellipse">
            <a:avLst/>
          </a:prstGeom>
          <a:solidFill>
            <a:schemeClr val="accent3"/>
          </a:solidFill>
          <a:ln/>
        </p:spPr>
      </p:sp>
      <p:sp>
        <p:nvSpPr>
          <p:cNvPr id="48" name="Rentabilidad Renta variable 4"/>
          <p:cNvSpPr/>
          <p:nvPr/>
        </p:nvSpPr>
        <p:spPr>
          <a:xfrm>
            <a:off x="8110728" y="3108960"/>
            <a:ext cx="137160" cy="137160"/>
          </a:xfrm>
          <a:prstGeom prst="ellipse">
            <a:avLst/>
          </a:prstGeom>
          <a:solidFill>
            <a:schemeClr val="accent3"/>
          </a:solidFill>
          <a:ln/>
        </p:spPr>
      </p:sp>
      <p:sp>
        <p:nvSpPr>
          <p:cNvPr id="49" name="Rentabilidad Renta variable 5"/>
          <p:cNvSpPr/>
          <p:nvPr/>
        </p:nvSpPr>
        <p:spPr>
          <a:xfrm>
            <a:off x="8284464" y="3108960"/>
            <a:ext cx="137160" cy="137160"/>
          </a:xfrm>
          <a:prstGeom prst="ellipse">
            <a:avLst/>
          </a:prstGeom>
          <a:solidFill>
            <a:srgbClr val="D9DBE7"/>
          </a:solidFill>
          <a:ln/>
        </p:spPr>
      </p:sp>
      <p:sp>
        <p:nvSpPr>
          <p:cNvPr id="50" name="Text 45"/>
          <p:cNvSpPr txBox="1"/>
          <p:nvPr/>
        </p:nvSpPr>
        <p:spPr>
          <a:xfrm>
            <a:off x="6400800" y="3337560"/>
            <a:ext cx="1188720" cy="228600"/>
          </a:xfrm>
          <a:prstGeom prst="rect">
            <a:avLst/>
          </a:prstGeom>
          <a:noFill/>
          <a:ln/>
        </p:spPr>
        <p:txBody>
          <a:bodyPr wrap="square" lIns="0" tIns="0" rIns="0" bIns="0" rtlCol="0" anchor="ctr"/>
          <a:lstStyle/>
          <a:p>
            <a:pPr indent="0" marL="0">
              <a:buNone/>
            </a:pPr>
            <a:r>
              <a:rPr lang="en-US" sz="1100" dirty="0">
                <a:solidFill>
                  <a:schemeClr val="accent6"/>
                </a:solidFill>
              </a:rPr>
              <a:t>Altibajos</a:t>
            </a:r>
            <a:endParaRPr lang="en-US" sz="1100" dirty="0"/>
          </a:p>
        </p:txBody>
      </p:sp>
      <p:sp>
        <p:nvSpPr>
          <p:cNvPr id="51" name="Altibajos Renta variable 1"/>
          <p:cNvSpPr/>
          <p:nvPr/>
        </p:nvSpPr>
        <p:spPr>
          <a:xfrm>
            <a:off x="7589520" y="3383280"/>
            <a:ext cx="137160" cy="137160"/>
          </a:xfrm>
          <a:prstGeom prst="ellipse">
            <a:avLst/>
          </a:prstGeom>
          <a:solidFill>
            <a:schemeClr val="accent3"/>
          </a:solidFill>
          <a:ln/>
        </p:spPr>
      </p:sp>
      <p:sp>
        <p:nvSpPr>
          <p:cNvPr id="52" name="Altibajos Renta variable 2"/>
          <p:cNvSpPr/>
          <p:nvPr/>
        </p:nvSpPr>
        <p:spPr>
          <a:xfrm>
            <a:off x="7763256" y="3383280"/>
            <a:ext cx="137160" cy="137160"/>
          </a:xfrm>
          <a:prstGeom prst="ellipse">
            <a:avLst/>
          </a:prstGeom>
          <a:solidFill>
            <a:schemeClr val="accent3"/>
          </a:solidFill>
          <a:ln/>
        </p:spPr>
      </p:sp>
      <p:sp>
        <p:nvSpPr>
          <p:cNvPr id="53" name="Altibajos Renta variable 3"/>
          <p:cNvSpPr/>
          <p:nvPr/>
        </p:nvSpPr>
        <p:spPr>
          <a:xfrm>
            <a:off x="7936992" y="3383280"/>
            <a:ext cx="137160" cy="137160"/>
          </a:xfrm>
          <a:prstGeom prst="ellipse">
            <a:avLst/>
          </a:prstGeom>
          <a:solidFill>
            <a:schemeClr val="accent3"/>
          </a:solidFill>
          <a:ln/>
        </p:spPr>
      </p:sp>
      <p:sp>
        <p:nvSpPr>
          <p:cNvPr id="54" name="Altibajos Renta variable 4"/>
          <p:cNvSpPr/>
          <p:nvPr/>
        </p:nvSpPr>
        <p:spPr>
          <a:xfrm>
            <a:off x="8110728" y="3383280"/>
            <a:ext cx="137160" cy="137160"/>
          </a:xfrm>
          <a:prstGeom prst="ellipse">
            <a:avLst/>
          </a:prstGeom>
          <a:solidFill>
            <a:schemeClr val="accent3"/>
          </a:solidFill>
          <a:ln/>
        </p:spPr>
      </p:sp>
      <p:sp>
        <p:nvSpPr>
          <p:cNvPr id="55" name="Altibajos Renta variable 5"/>
          <p:cNvSpPr/>
          <p:nvPr/>
        </p:nvSpPr>
        <p:spPr>
          <a:xfrm>
            <a:off x="8284464" y="3383280"/>
            <a:ext cx="137160" cy="137160"/>
          </a:xfrm>
          <a:prstGeom prst="ellipse">
            <a:avLst/>
          </a:prstGeom>
          <a:solidFill>
            <a:srgbClr val="D9DBE7"/>
          </a:solidFill>
          <a:ln/>
        </p:spPr>
      </p:sp>
      <p:sp>
        <p:nvSpPr>
          <p:cNvPr id="56" name="Text 51"/>
          <p:cNvSpPr txBox="1"/>
          <p:nvPr/>
        </p:nvSpPr>
        <p:spPr>
          <a:xfrm>
            <a:off x="6400800" y="3703320"/>
            <a:ext cx="2103120" cy="274320"/>
          </a:xfrm>
          <a:prstGeom prst="rect">
            <a:avLst/>
          </a:prstGeom>
          <a:noFill/>
          <a:ln/>
        </p:spPr>
        <p:txBody>
          <a:bodyPr wrap="square" lIns="0" tIns="0" rIns="0" bIns="0" rtlCol="0" anchor="t"/>
          <a:lstStyle/>
          <a:p>
            <a:pPr indent="0" marL="0">
              <a:buNone/>
            </a:pPr>
            <a:r>
              <a:rPr lang="en-US" sz="1300" b="1" dirty="0">
                <a:solidFill>
                  <a:schemeClr val="tx2"/>
                </a:solidFill>
              </a:rPr>
              <a:t>Plazo: </a:t>
            </a:r>
            <a:pPr indent="0" marL="0">
              <a:buNone/>
            </a:pPr>
            <a:r>
              <a:rPr lang="en-US" sz="1300" dirty="0">
                <a:solidFill>
                  <a:schemeClr val="tx2"/>
                </a:solidFill>
              </a:rPr>
              <a:t>7 años o más</a:t>
            </a:r>
            <a:endParaRPr lang="en-US" sz="1300" dirty="0"/>
          </a:p>
        </p:txBody>
      </p:sp>
      <p:sp>
        <p:nvSpPr>
          <p:cNvPr id="57" name="Text 52"/>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000" i="1" dirty="0">
                <a:solidFill>
                  <a:schemeClr val="accent6"/>
                </a:solidFill>
              </a:rPr>
              <a:t>No existe una inversión con alta rentabilidad y sin riesgo: si alguien te la ofrece, desconfía.</a:t>
            </a:r>
            <a:endParaRPr lang="en-US" sz="10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No pongas todos los huevos en la misma cesta</a:t>
            </a:r>
            <a:endParaRPr lang="en-US" sz="2800" dirty="0"/>
          </a:p>
        </p:txBody>
      </p:sp>
      <p:sp>
        <p:nvSpPr>
          <p:cNvPr id="3" name="Concentrado"/>
          <p:cNvSpPr/>
          <p:nvPr/>
        </p:nvSpPr>
        <p:spPr>
          <a:xfrm>
            <a:off x="457200" y="1188720"/>
            <a:ext cx="3931920" cy="1417320"/>
          </a:xfrm>
          <a:prstGeom prst="roundRect">
            <a:avLst>
              <a:gd name="adj" fmla="val 7742"/>
            </a:avLst>
          </a:prstGeom>
          <a:solidFill>
            <a:srgbClr val="FDEEE6"/>
          </a:solidFill>
          <a:ln/>
        </p:spPr>
      </p:sp>
      <p:sp>
        <p:nvSpPr>
          <p:cNvPr id="4" name="Icono una empresa"/>
          <p:cNvSpPr/>
          <p:nvPr/>
        </p:nvSpPr>
        <p:spPr>
          <a:xfrm>
            <a:off x="685800" y="1417320"/>
            <a:ext cx="548640" cy="548640"/>
          </a:xfrm>
          <a:prstGeom prst="ellipse">
            <a:avLst/>
          </a:prstGeom>
          <a:solidFill>
            <a:schemeClr val="accent3"/>
          </a:solidFill>
          <a:ln/>
        </p:spPr>
      </p:sp>
      <p:pic>
        <p:nvPicPr>
          <p:cNvPr id="5" name="Icono una empresa icono" descr="preencoded.png">    </p:cNvPr>
          <p:cNvPicPr>
            <a:picLocks noChangeAspect="1"/>
          </p:cNvPicPr>
          <p:nvPr/>
        </p:nvPicPr>
        <p:blipFill>
          <a:blip r:embed="rId1"/>
          <a:stretch>
            <a:fillRect/>
          </a:stretch>
        </p:blipFill>
        <p:spPr>
          <a:xfrm>
            <a:off x="822960" y="1554480"/>
            <a:ext cx="274320" cy="274320"/>
          </a:xfrm>
          <a:prstGeom prst="rect">
            <a:avLst/>
          </a:prstGeom>
        </p:spPr>
      </p:pic>
      <p:sp>
        <p:nvSpPr>
          <p:cNvPr id="6" name="Text 3"/>
          <p:cNvSpPr txBox="1"/>
          <p:nvPr/>
        </p:nvSpPr>
        <p:spPr>
          <a:xfrm>
            <a:off x="1417320" y="1371600"/>
            <a:ext cx="2834640" cy="36576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Todo en una sola empresa</a:t>
            </a:r>
            <a:endParaRPr lang="en-US" sz="1500" dirty="0"/>
          </a:p>
        </p:txBody>
      </p:sp>
      <p:sp>
        <p:nvSpPr>
          <p:cNvPr id="7" name="Text 4"/>
          <p:cNvSpPr txBox="1"/>
          <p:nvPr/>
        </p:nvSpPr>
        <p:spPr>
          <a:xfrm>
            <a:off x="1417320" y="1755648"/>
            <a:ext cx="2834640" cy="731520"/>
          </a:xfrm>
          <a:prstGeom prst="rect">
            <a:avLst/>
          </a:prstGeom>
          <a:noFill/>
          <a:ln/>
        </p:spPr>
        <p:txBody>
          <a:bodyPr wrap="square" lIns="0" tIns="0" rIns="0" bIns="0" rtlCol="0" anchor="t"/>
          <a:lstStyle/>
          <a:p>
            <a:pPr indent="0" marL="0">
              <a:buNone/>
            </a:pPr>
            <a:r>
              <a:rPr lang="en-US" sz="1400" dirty="0">
                <a:solidFill>
                  <a:schemeClr val="tx1"/>
                </a:solidFill>
              </a:rPr>
              <a:t>Si a esa empresa le va mal, tu ahorro lo nota mucho.</a:t>
            </a:r>
            <a:endParaRPr lang="en-US" sz="1400" dirty="0"/>
          </a:p>
        </p:txBody>
      </p:sp>
      <p:sp>
        <p:nvSpPr>
          <p:cNvPr id="8" name="Diversificado"/>
          <p:cNvSpPr/>
          <p:nvPr/>
        </p:nvSpPr>
        <p:spPr>
          <a:xfrm>
            <a:off x="457200" y="2788920"/>
            <a:ext cx="3931920" cy="1417320"/>
          </a:xfrm>
          <a:prstGeom prst="roundRect">
            <a:avLst>
              <a:gd name="adj" fmla="val 7742"/>
            </a:avLst>
          </a:prstGeom>
          <a:solidFill>
            <a:srgbClr val="E9EEFF"/>
          </a:solidFill>
          <a:ln/>
        </p:spPr>
      </p:sp>
      <p:sp>
        <p:nvSpPr>
          <p:cNvPr id="9" name="Icono fondo global"/>
          <p:cNvSpPr/>
          <p:nvPr/>
        </p:nvSpPr>
        <p:spPr>
          <a:xfrm>
            <a:off x="685800" y="3017520"/>
            <a:ext cx="548640" cy="548640"/>
          </a:xfrm>
          <a:prstGeom prst="ellipse">
            <a:avLst/>
          </a:prstGeom>
          <a:solidFill>
            <a:schemeClr val="accent1"/>
          </a:solidFill>
          <a:ln/>
        </p:spPr>
      </p:sp>
      <p:pic>
        <p:nvPicPr>
          <p:cNvPr id="10" name="Icono fondo global icono" descr="preencoded.png">    </p:cNvPr>
          <p:cNvPicPr>
            <a:picLocks noChangeAspect="1"/>
          </p:cNvPicPr>
          <p:nvPr/>
        </p:nvPicPr>
        <p:blipFill>
          <a:blip r:embed="rId2"/>
          <a:stretch>
            <a:fillRect/>
          </a:stretch>
        </p:blipFill>
        <p:spPr>
          <a:xfrm>
            <a:off x="822960" y="3154680"/>
            <a:ext cx="274320" cy="274320"/>
          </a:xfrm>
          <a:prstGeom prst="rect">
            <a:avLst/>
          </a:prstGeom>
        </p:spPr>
      </p:pic>
      <p:sp>
        <p:nvSpPr>
          <p:cNvPr id="11" name="Text 7"/>
          <p:cNvSpPr txBox="1"/>
          <p:nvPr/>
        </p:nvSpPr>
        <p:spPr>
          <a:xfrm>
            <a:off x="1417320" y="2971800"/>
            <a:ext cx="2834640" cy="36576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Un fondo global diversificado</a:t>
            </a:r>
            <a:endParaRPr lang="en-US" sz="1500" dirty="0"/>
          </a:p>
        </p:txBody>
      </p:sp>
      <p:sp>
        <p:nvSpPr>
          <p:cNvPr id="12" name="Text 8"/>
          <p:cNvSpPr txBox="1"/>
          <p:nvPr/>
        </p:nvSpPr>
        <p:spPr>
          <a:xfrm>
            <a:off x="1417320" y="3355848"/>
            <a:ext cx="2834640" cy="777240"/>
          </a:xfrm>
          <a:prstGeom prst="rect">
            <a:avLst/>
          </a:prstGeom>
          <a:noFill/>
          <a:ln/>
        </p:spPr>
        <p:txBody>
          <a:bodyPr wrap="square" lIns="0" tIns="0" rIns="0" bIns="0" rtlCol="0" anchor="t"/>
          <a:lstStyle/>
          <a:p>
            <a:pPr indent="0" marL="0">
              <a:buNone/>
            </a:pPr>
            <a:r>
              <a:rPr lang="en-US" sz="1400" dirty="0">
                <a:solidFill>
                  <a:schemeClr val="tx1"/>
                </a:solidFill>
              </a:rPr>
              <a:t>Miles de empresas en decenas de países: si a una le va mal, apenas se nota.</a:t>
            </a:r>
            <a:endParaRPr lang="en-US" sz="1400" dirty="0"/>
          </a:p>
        </p:txBody>
      </p:sp>
      <p:sp>
        <p:nvSpPr>
          <p:cNvPr id="13" name="Text 9"/>
          <p:cNvSpPr txBox="1"/>
          <p:nvPr/>
        </p:nvSpPr>
        <p:spPr>
          <a:xfrm>
            <a:off x="4754880" y="1188720"/>
            <a:ext cx="3931920" cy="365760"/>
          </a:xfrm>
          <a:prstGeom prst="rect">
            <a:avLst/>
          </a:prstGeom>
          <a:noFill/>
          <a:ln/>
        </p:spPr>
        <p:txBody>
          <a:bodyPr wrap="square" lIns="0" tIns="0" rIns="0" bIns="0" rtlCol="0" anchor="t"/>
          <a:lstStyle/>
          <a:p>
            <a:pPr indent="0" marL="0">
              <a:buNone/>
            </a:pPr>
            <a:r>
              <a:rPr lang="en-US" sz="1700" b="1" dirty="0">
                <a:solidFill>
                  <a:schemeClr val="tx2"/>
                </a:solidFill>
                <a:latin typeface="Arial" pitchFamily="34" charset="0"/>
                <a:ea typeface="Arial" pitchFamily="34" charset="-122"/>
                <a:cs typeface="Arial" pitchFamily="34" charset="-120"/>
              </a:rPr>
              <a:t>Tres formas de diversificar</a:t>
            </a:r>
            <a:endParaRPr lang="en-US" sz="1700" dirty="0"/>
          </a:p>
        </p:txBody>
      </p:sp>
      <p:sp>
        <p:nvSpPr>
          <p:cNvPr id="14" name="Icono Por tipo de activo"/>
          <p:cNvSpPr/>
          <p:nvPr/>
        </p:nvSpPr>
        <p:spPr>
          <a:xfrm>
            <a:off x="4754880" y="1737360"/>
            <a:ext cx="502920" cy="502920"/>
          </a:xfrm>
          <a:prstGeom prst="ellipse">
            <a:avLst/>
          </a:prstGeom>
          <a:solidFill>
            <a:schemeClr val="accent2"/>
          </a:solidFill>
          <a:ln/>
        </p:spPr>
      </p:sp>
      <p:pic>
        <p:nvPicPr>
          <p:cNvPr id="15" name="Icono Por tipo de activo icono" descr="preencoded.png">    </p:cNvPr>
          <p:cNvPicPr>
            <a:picLocks noChangeAspect="1"/>
          </p:cNvPicPr>
          <p:nvPr/>
        </p:nvPicPr>
        <p:blipFill>
          <a:blip r:embed="rId3"/>
          <a:stretch>
            <a:fillRect/>
          </a:stretch>
        </p:blipFill>
        <p:spPr>
          <a:xfrm>
            <a:off x="4880610" y="1863090"/>
            <a:ext cx="251460" cy="251460"/>
          </a:xfrm>
          <a:prstGeom prst="rect">
            <a:avLst/>
          </a:prstGeom>
        </p:spPr>
      </p:pic>
      <p:sp>
        <p:nvSpPr>
          <p:cNvPr id="16" name="Text 11"/>
          <p:cNvSpPr txBox="1"/>
          <p:nvPr/>
        </p:nvSpPr>
        <p:spPr>
          <a:xfrm>
            <a:off x="5440680" y="1719072"/>
            <a:ext cx="3246120" cy="274320"/>
          </a:xfrm>
          <a:prstGeom prst="rect">
            <a:avLst/>
          </a:prstGeom>
          <a:noFill/>
          <a:ln/>
        </p:spPr>
        <p:txBody>
          <a:bodyPr wrap="square" lIns="0" tIns="0" rIns="0" bIns="0" rtlCol="0" anchor="t"/>
          <a:lstStyle/>
          <a:p>
            <a:pPr indent="0" marL="0">
              <a:buNone/>
            </a:pPr>
            <a:r>
              <a:rPr lang="en-US" sz="1500" b="1" dirty="0">
                <a:solidFill>
                  <a:schemeClr val="tx2"/>
                </a:solidFill>
              </a:rPr>
              <a:t>Por tipo de activo</a:t>
            </a:r>
            <a:endParaRPr lang="en-US" sz="1500" dirty="0"/>
          </a:p>
        </p:txBody>
      </p:sp>
      <p:sp>
        <p:nvSpPr>
          <p:cNvPr id="17" name="Text 12"/>
          <p:cNvSpPr txBox="1"/>
          <p:nvPr/>
        </p:nvSpPr>
        <p:spPr>
          <a:xfrm>
            <a:off x="5440680" y="2011680"/>
            <a:ext cx="3246120" cy="457200"/>
          </a:xfrm>
          <a:prstGeom prst="rect">
            <a:avLst/>
          </a:prstGeom>
          <a:noFill/>
          <a:ln/>
        </p:spPr>
        <p:txBody>
          <a:bodyPr wrap="square" lIns="0" tIns="0" rIns="0" bIns="0" rtlCol="0" anchor="t"/>
          <a:lstStyle/>
          <a:p>
            <a:pPr indent="0" marL="0">
              <a:buNone/>
            </a:pPr>
            <a:r>
              <a:rPr lang="en-US" sz="1400" dirty="0">
                <a:solidFill>
                  <a:schemeClr val="tx1"/>
                </a:solidFill>
              </a:rPr>
              <a:t>Combinar liquidez, renta fija y renta variable.</a:t>
            </a:r>
            <a:endParaRPr lang="en-US" sz="1400" dirty="0"/>
          </a:p>
        </p:txBody>
      </p:sp>
      <p:sp>
        <p:nvSpPr>
          <p:cNvPr id="18" name="Icono Por zona geográfica"/>
          <p:cNvSpPr/>
          <p:nvPr/>
        </p:nvSpPr>
        <p:spPr>
          <a:xfrm>
            <a:off x="4754880" y="2606040"/>
            <a:ext cx="502920" cy="502920"/>
          </a:xfrm>
          <a:prstGeom prst="ellipse">
            <a:avLst/>
          </a:prstGeom>
          <a:solidFill>
            <a:schemeClr val="accent1"/>
          </a:solidFill>
          <a:ln/>
        </p:spPr>
      </p:sp>
      <p:pic>
        <p:nvPicPr>
          <p:cNvPr id="19" name="Icono Por zona geográfica icono" descr="preencoded.png">    </p:cNvPr>
          <p:cNvPicPr>
            <a:picLocks noChangeAspect="1"/>
          </p:cNvPicPr>
          <p:nvPr/>
        </p:nvPicPr>
        <p:blipFill>
          <a:blip r:embed="rId4"/>
          <a:stretch>
            <a:fillRect/>
          </a:stretch>
        </p:blipFill>
        <p:spPr>
          <a:xfrm>
            <a:off x="4880610" y="2731770"/>
            <a:ext cx="251460" cy="251460"/>
          </a:xfrm>
          <a:prstGeom prst="rect">
            <a:avLst/>
          </a:prstGeom>
        </p:spPr>
      </p:pic>
      <p:sp>
        <p:nvSpPr>
          <p:cNvPr id="20" name="Text 14"/>
          <p:cNvSpPr txBox="1"/>
          <p:nvPr/>
        </p:nvSpPr>
        <p:spPr>
          <a:xfrm>
            <a:off x="5440680" y="2587752"/>
            <a:ext cx="3246120" cy="274320"/>
          </a:xfrm>
          <a:prstGeom prst="rect">
            <a:avLst/>
          </a:prstGeom>
          <a:noFill/>
          <a:ln/>
        </p:spPr>
        <p:txBody>
          <a:bodyPr wrap="square" lIns="0" tIns="0" rIns="0" bIns="0" rtlCol="0" anchor="t"/>
          <a:lstStyle/>
          <a:p>
            <a:pPr indent="0" marL="0">
              <a:buNone/>
            </a:pPr>
            <a:r>
              <a:rPr lang="en-US" sz="1500" b="1" dirty="0">
                <a:solidFill>
                  <a:schemeClr val="tx2"/>
                </a:solidFill>
              </a:rPr>
              <a:t>Por zona geográfica</a:t>
            </a:r>
            <a:endParaRPr lang="en-US" sz="1500" dirty="0"/>
          </a:p>
        </p:txBody>
      </p:sp>
      <p:sp>
        <p:nvSpPr>
          <p:cNvPr id="21" name="Text 15"/>
          <p:cNvSpPr txBox="1"/>
          <p:nvPr/>
        </p:nvSpPr>
        <p:spPr>
          <a:xfrm>
            <a:off x="5440680" y="2880360"/>
            <a:ext cx="3246120" cy="457200"/>
          </a:xfrm>
          <a:prstGeom prst="rect">
            <a:avLst/>
          </a:prstGeom>
          <a:noFill/>
          <a:ln/>
        </p:spPr>
        <p:txBody>
          <a:bodyPr wrap="square" lIns="0" tIns="0" rIns="0" bIns="0" rtlCol="0" anchor="t"/>
          <a:lstStyle/>
          <a:p>
            <a:pPr indent="0" marL="0">
              <a:buNone/>
            </a:pPr>
            <a:r>
              <a:rPr lang="en-US" sz="1400" dirty="0">
                <a:solidFill>
                  <a:schemeClr val="tx1"/>
                </a:solidFill>
              </a:rPr>
              <a:t>Invertir en todo el mundo, no solo en España.</a:t>
            </a:r>
            <a:endParaRPr lang="en-US" sz="1400" dirty="0"/>
          </a:p>
        </p:txBody>
      </p:sp>
      <p:sp>
        <p:nvSpPr>
          <p:cNvPr id="22" name="Icono En el tiempo"/>
          <p:cNvSpPr/>
          <p:nvPr/>
        </p:nvSpPr>
        <p:spPr>
          <a:xfrm>
            <a:off x="4754880" y="3474720"/>
            <a:ext cx="502920" cy="502920"/>
          </a:xfrm>
          <a:prstGeom prst="ellipse">
            <a:avLst/>
          </a:prstGeom>
          <a:solidFill>
            <a:schemeClr val="accent3"/>
          </a:solidFill>
          <a:ln/>
        </p:spPr>
      </p:sp>
      <p:pic>
        <p:nvPicPr>
          <p:cNvPr id="23" name="Icono En el tiempo icono" descr="preencoded.png">    </p:cNvPr>
          <p:cNvPicPr>
            <a:picLocks noChangeAspect="1"/>
          </p:cNvPicPr>
          <p:nvPr/>
        </p:nvPicPr>
        <p:blipFill>
          <a:blip r:embed="rId5"/>
          <a:stretch>
            <a:fillRect/>
          </a:stretch>
        </p:blipFill>
        <p:spPr>
          <a:xfrm>
            <a:off x="4880610" y="3600450"/>
            <a:ext cx="251460" cy="251460"/>
          </a:xfrm>
          <a:prstGeom prst="rect">
            <a:avLst/>
          </a:prstGeom>
        </p:spPr>
      </p:pic>
      <p:sp>
        <p:nvSpPr>
          <p:cNvPr id="24" name="Text 17"/>
          <p:cNvSpPr txBox="1"/>
          <p:nvPr/>
        </p:nvSpPr>
        <p:spPr>
          <a:xfrm>
            <a:off x="5440680" y="3456432"/>
            <a:ext cx="3246120" cy="274320"/>
          </a:xfrm>
          <a:prstGeom prst="rect">
            <a:avLst/>
          </a:prstGeom>
          <a:noFill/>
          <a:ln/>
        </p:spPr>
        <p:txBody>
          <a:bodyPr wrap="square" lIns="0" tIns="0" rIns="0" bIns="0" rtlCol="0" anchor="t"/>
          <a:lstStyle/>
          <a:p>
            <a:pPr indent="0" marL="0">
              <a:buNone/>
            </a:pPr>
            <a:r>
              <a:rPr lang="en-US" sz="1500" b="1" dirty="0">
                <a:solidFill>
                  <a:schemeClr val="tx2"/>
                </a:solidFill>
              </a:rPr>
              <a:t>En el tiempo</a:t>
            </a:r>
            <a:endParaRPr lang="en-US" sz="1500" dirty="0"/>
          </a:p>
        </p:txBody>
      </p:sp>
      <p:sp>
        <p:nvSpPr>
          <p:cNvPr id="25" name="Text 18"/>
          <p:cNvSpPr txBox="1"/>
          <p:nvPr/>
        </p:nvSpPr>
        <p:spPr>
          <a:xfrm>
            <a:off x="5440680" y="3749040"/>
            <a:ext cx="3246120" cy="457200"/>
          </a:xfrm>
          <a:prstGeom prst="rect">
            <a:avLst/>
          </a:prstGeom>
          <a:noFill/>
          <a:ln/>
        </p:spPr>
        <p:txBody>
          <a:bodyPr wrap="square" lIns="0" tIns="0" rIns="0" bIns="0" rtlCol="0" anchor="t"/>
          <a:lstStyle/>
          <a:p>
            <a:pPr indent="0" marL="0">
              <a:buNone/>
            </a:pPr>
            <a:r>
              <a:rPr lang="en-US" sz="1400" dirty="0">
                <a:solidFill>
                  <a:schemeClr val="tx1"/>
                </a:solidFill>
              </a:rPr>
              <a:t>Invertir poco a poco con aportaciones periódicas.</a:t>
            </a:r>
            <a:endParaRPr lang="en-US" sz="14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Costes bajos, gran diferencia</a:t>
            </a:r>
            <a:endParaRPr lang="en-US" sz="2800" dirty="0"/>
          </a:p>
        </p:txBody>
      </p:sp>
      <p:graphicFrame>
        <p:nvGraphicFramePr>
          <p:cNvPr id="3" name="Chart 0" descr=""/>
          <p:cNvGraphicFramePr/>
          <p:nvPr/>
        </p:nvGraphicFramePr>
        <p:xfrm>
          <a:off x="365760" y="1143000"/>
          <a:ext cx="4297680" cy="2651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3794760"/>
            <a:ext cx="4114800" cy="457200"/>
          </a:xfrm>
          <a:prstGeom prst="rect">
            <a:avLst/>
          </a:prstGeom>
          <a:noFill/>
          <a:ln/>
        </p:spPr>
        <p:txBody>
          <a:bodyPr wrap="square" lIns="0" tIns="0" rIns="0" bIns="0" rtlCol="0" anchor="t"/>
          <a:lstStyle/>
          <a:p>
            <a:pPr indent="0" marL="0">
              <a:buNone/>
            </a:pPr>
            <a:r>
              <a:rPr lang="en-US" sz="1500" b="1" dirty="0">
                <a:solidFill>
                  <a:schemeClr val="accent1"/>
                </a:solidFill>
              </a:rPr>
              <a:t>≈ 120.000 € más </a:t>
            </a:r>
            <a:pPr indent="0" marL="0">
              <a:buNone/>
            </a:pPr>
            <a:r>
              <a:rPr lang="en-US" sz="1500" dirty="0">
                <a:solidFill>
                  <a:schemeClr val="tx2"/>
                </a:solidFill>
              </a:rPr>
              <a:t>solo por pagar menos comisiones</a:t>
            </a:r>
            <a:endParaRPr lang="en-US" sz="1500" dirty="0"/>
          </a:p>
        </p:txBody>
      </p:sp>
      <p:sp>
        <p:nvSpPr>
          <p:cNvPr id="5" name="Icono Fondo de inversión"/>
          <p:cNvSpPr/>
          <p:nvPr/>
        </p:nvSpPr>
        <p:spPr>
          <a:xfrm>
            <a:off x="4983480" y="1143000"/>
            <a:ext cx="502920" cy="502920"/>
          </a:xfrm>
          <a:prstGeom prst="ellipse">
            <a:avLst/>
          </a:prstGeom>
          <a:solidFill>
            <a:schemeClr val="accent2"/>
          </a:solidFill>
          <a:ln/>
        </p:spPr>
      </p:sp>
      <p:pic>
        <p:nvPicPr>
          <p:cNvPr id="6" name="Icono Fondo de inversión icono" descr="preencoded.png">    </p:cNvPr>
          <p:cNvPicPr>
            <a:picLocks noChangeAspect="1"/>
          </p:cNvPicPr>
          <p:nvPr/>
        </p:nvPicPr>
        <p:blipFill>
          <a:blip r:embed="rId2"/>
          <a:stretch>
            <a:fillRect/>
          </a:stretch>
        </p:blipFill>
        <p:spPr>
          <a:xfrm>
            <a:off x="5109210" y="1268730"/>
            <a:ext cx="251460" cy="251460"/>
          </a:xfrm>
          <a:prstGeom prst="rect">
            <a:avLst/>
          </a:prstGeom>
        </p:spPr>
      </p:pic>
      <p:sp>
        <p:nvSpPr>
          <p:cNvPr id="7" name="Text 3"/>
          <p:cNvSpPr txBox="1"/>
          <p:nvPr/>
        </p:nvSpPr>
        <p:spPr>
          <a:xfrm>
            <a:off x="5669280" y="1124712"/>
            <a:ext cx="3017520" cy="274320"/>
          </a:xfrm>
          <a:prstGeom prst="rect">
            <a:avLst/>
          </a:prstGeom>
          <a:noFill/>
          <a:ln/>
        </p:spPr>
        <p:txBody>
          <a:bodyPr wrap="square" lIns="0" tIns="0" rIns="0" bIns="0" rtlCol="0" anchor="t"/>
          <a:lstStyle/>
          <a:p>
            <a:pPr indent="0" marL="0">
              <a:buNone/>
            </a:pPr>
            <a:r>
              <a:rPr lang="en-US" sz="1500" b="1" dirty="0">
                <a:solidFill>
                  <a:schemeClr val="tx2"/>
                </a:solidFill>
              </a:rPr>
              <a:t>Fondo de inversión</a:t>
            </a:r>
            <a:endParaRPr lang="en-US" sz="1500" dirty="0"/>
          </a:p>
        </p:txBody>
      </p:sp>
      <p:sp>
        <p:nvSpPr>
          <p:cNvPr id="8" name="Text 4"/>
          <p:cNvSpPr txBox="1"/>
          <p:nvPr/>
        </p:nvSpPr>
        <p:spPr>
          <a:xfrm>
            <a:off x="5669280" y="1417320"/>
            <a:ext cx="3017520" cy="640080"/>
          </a:xfrm>
          <a:prstGeom prst="rect">
            <a:avLst/>
          </a:prstGeom>
          <a:noFill/>
          <a:ln/>
        </p:spPr>
        <p:txBody>
          <a:bodyPr wrap="square" lIns="0" tIns="0" rIns="0" bIns="0" rtlCol="0" anchor="t"/>
          <a:lstStyle/>
          <a:p>
            <a:pPr indent="0" marL="0">
              <a:buNone/>
            </a:pPr>
            <a:r>
              <a:rPr lang="en-US" sz="1400" dirty="0">
                <a:solidFill>
                  <a:schemeClr val="tx1"/>
                </a:solidFill>
              </a:rPr>
              <a:t>Una cesta con muchas inversiones, gestionada por una entidad.</a:t>
            </a:r>
            <a:endParaRPr lang="en-US" sz="1400" dirty="0"/>
          </a:p>
        </p:txBody>
      </p:sp>
      <p:sp>
        <p:nvSpPr>
          <p:cNvPr id="9" name="Icono Fondo indexado"/>
          <p:cNvSpPr/>
          <p:nvPr/>
        </p:nvSpPr>
        <p:spPr>
          <a:xfrm>
            <a:off x="4983480" y="2240280"/>
            <a:ext cx="502920" cy="502920"/>
          </a:xfrm>
          <a:prstGeom prst="ellipse">
            <a:avLst/>
          </a:prstGeom>
          <a:solidFill>
            <a:schemeClr val="accent1"/>
          </a:solidFill>
          <a:ln/>
        </p:spPr>
      </p:sp>
      <p:pic>
        <p:nvPicPr>
          <p:cNvPr id="10" name="Icono Fondo indexado icono" descr="preencoded.png">    </p:cNvPr>
          <p:cNvPicPr>
            <a:picLocks noChangeAspect="1"/>
          </p:cNvPicPr>
          <p:nvPr/>
        </p:nvPicPr>
        <p:blipFill>
          <a:blip r:embed="rId3"/>
          <a:stretch>
            <a:fillRect/>
          </a:stretch>
        </p:blipFill>
        <p:spPr>
          <a:xfrm>
            <a:off x="5109210" y="2366010"/>
            <a:ext cx="251460" cy="251460"/>
          </a:xfrm>
          <a:prstGeom prst="rect">
            <a:avLst/>
          </a:prstGeom>
        </p:spPr>
      </p:pic>
      <p:sp>
        <p:nvSpPr>
          <p:cNvPr id="11" name="Text 6"/>
          <p:cNvSpPr txBox="1"/>
          <p:nvPr/>
        </p:nvSpPr>
        <p:spPr>
          <a:xfrm>
            <a:off x="5669280" y="2221992"/>
            <a:ext cx="3017520" cy="274320"/>
          </a:xfrm>
          <a:prstGeom prst="rect">
            <a:avLst/>
          </a:prstGeom>
          <a:noFill/>
          <a:ln/>
        </p:spPr>
        <p:txBody>
          <a:bodyPr wrap="square" lIns="0" tIns="0" rIns="0" bIns="0" rtlCol="0" anchor="t"/>
          <a:lstStyle/>
          <a:p>
            <a:pPr indent="0" marL="0">
              <a:buNone/>
            </a:pPr>
            <a:r>
              <a:rPr lang="en-US" sz="1500" b="1" dirty="0">
                <a:solidFill>
                  <a:schemeClr val="tx2"/>
                </a:solidFill>
              </a:rPr>
              <a:t>Fondo indexado</a:t>
            </a:r>
            <a:endParaRPr lang="en-US" sz="1500" dirty="0"/>
          </a:p>
        </p:txBody>
      </p:sp>
      <p:sp>
        <p:nvSpPr>
          <p:cNvPr id="12" name="Text 7"/>
          <p:cNvSpPr txBox="1"/>
          <p:nvPr/>
        </p:nvSpPr>
        <p:spPr>
          <a:xfrm>
            <a:off x="5669280" y="2514600"/>
            <a:ext cx="3017520" cy="640080"/>
          </a:xfrm>
          <a:prstGeom prst="rect">
            <a:avLst/>
          </a:prstGeom>
          <a:noFill/>
          <a:ln/>
        </p:spPr>
        <p:txBody>
          <a:bodyPr wrap="square" lIns="0" tIns="0" rIns="0" bIns="0" rtlCol="0" anchor="t"/>
          <a:lstStyle/>
          <a:p>
            <a:pPr indent="0" marL="0">
              <a:buNone/>
            </a:pPr>
            <a:r>
              <a:rPr lang="en-US" sz="1400" dirty="0">
                <a:solidFill>
                  <a:schemeClr val="tx1"/>
                </a:solidFill>
              </a:rPr>
              <a:t>Copia un índice (por ejemplo, las mayores empresas del mundo) con costes muy bajos.</a:t>
            </a:r>
            <a:endParaRPr lang="en-US" sz="1400" dirty="0"/>
          </a:p>
        </p:txBody>
      </p:sp>
      <p:sp>
        <p:nvSpPr>
          <p:cNvPr id="13" name="Icono Traspaso"/>
          <p:cNvSpPr/>
          <p:nvPr/>
        </p:nvSpPr>
        <p:spPr>
          <a:xfrm>
            <a:off x="4983480" y="3337560"/>
            <a:ext cx="502920" cy="502920"/>
          </a:xfrm>
          <a:prstGeom prst="ellipse">
            <a:avLst/>
          </a:prstGeom>
          <a:solidFill>
            <a:schemeClr val="accent3"/>
          </a:solidFill>
          <a:ln/>
        </p:spPr>
      </p:sp>
      <p:pic>
        <p:nvPicPr>
          <p:cNvPr id="14" name="Icono Traspaso icono" descr="preencoded.png">    </p:cNvPr>
          <p:cNvPicPr>
            <a:picLocks noChangeAspect="1"/>
          </p:cNvPicPr>
          <p:nvPr/>
        </p:nvPicPr>
        <p:blipFill>
          <a:blip r:embed="rId4"/>
          <a:stretch>
            <a:fillRect/>
          </a:stretch>
        </p:blipFill>
        <p:spPr>
          <a:xfrm>
            <a:off x="5109210" y="3463290"/>
            <a:ext cx="251460" cy="251460"/>
          </a:xfrm>
          <a:prstGeom prst="rect">
            <a:avLst/>
          </a:prstGeom>
        </p:spPr>
      </p:pic>
      <p:sp>
        <p:nvSpPr>
          <p:cNvPr id="15" name="Text 9"/>
          <p:cNvSpPr txBox="1"/>
          <p:nvPr/>
        </p:nvSpPr>
        <p:spPr>
          <a:xfrm>
            <a:off x="5669280" y="3319272"/>
            <a:ext cx="3017520" cy="274320"/>
          </a:xfrm>
          <a:prstGeom prst="rect">
            <a:avLst/>
          </a:prstGeom>
          <a:noFill/>
          <a:ln/>
        </p:spPr>
        <p:txBody>
          <a:bodyPr wrap="square" lIns="0" tIns="0" rIns="0" bIns="0" rtlCol="0" anchor="t"/>
          <a:lstStyle/>
          <a:p>
            <a:pPr indent="0" marL="0">
              <a:buNone/>
            </a:pPr>
            <a:r>
              <a:rPr lang="en-US" sz="1500" b="1" dirty="0">
                <a:solidFill>
                  <a:schemeClr val="tx2"/>
                </a:solidFill>
              </a:rPr>
              <a:t>Traspaso</a:t>
            </a:r>
            <a:endParaRPr lang="en-US" sz="1500" dirty="0"/>
          </a:p>
        </p:txBody>
      </p:sp>
      <p:sp>
        <p:nvSpPr>
          <p:cNvPr id="16" name="Text 10"/>
          <p:cNvSpPr txBox="1"/>
          <p:nvPr/>
        </p:nvSpPr>
        <p:spPr>
          <a:xfrm>
            <a:off x="5669280" y="3611880"/>
            <a:ext cx="3017520" cy="640080"/>
          </a:xfrm>
          <a:prstGeom prst="rect">
            <a:avLst/>
          </a:prstGeom>
          <a:noFill/>
          <a:ln/>
        </p:spPr>
        <p:txBody>
          <a:bodyPr wrap="square" lIns="0" tIns="0" rIns="0" bIns="0" rtlCol="0" anchor="t"/>
          <a:lstStyle/>
          <a:p>
            <a:pPr indent="0" marL="0">
              <a:buNone/>
            </a:pPr>
            <a:r>
              <a:rPr lang="en-US" sz="1400" dirty="0">
                <a:solidFill>
                  <a:schemeClr val="tx1"/>
                </a:solidFill>
              </a:rPr>
              <a:t>Puedes cambiar de un fondo a otro sin pagar impuestos hasta que vendas.</a:t>
            </a:r>
            <a:endParaRPr lang="en-US" sz="1400" dirty="0"/>
          </a:p>
        </p:txBody>
      </p:sp>
      <p:sp>
        <p:nvSpPr>
          <p:cNvPr id="17" name="Text 11"/>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000" i="1" dirty="0">
                <a:solidFill>
                  <a:schemeClr val="accent6"/>
                </a:solidFill>
              </a:rPr>
              <a:t>Ejemplo ilustrativo: rentabilidad bruta constante del 6 % anual, sin impuestos. Las rentabilidades no están garantizadas.</a:t>
            </a:r>
            <a:endParaRPr lang="en-US" sz="10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Cómo trabajamos juntos, en 6 pasos</a:t>
            </a:r>
            <a:endParaRPr lang="en-US" sz="2800" dirty="0"/>
          </a:p>
        </p:txBody>
      </p:sp>
      <p:sp>
        <p:nvSpPr>
          <p:cNvPr id="3" name="Línea del proceso"/>
          <p:cNvSpPr/>
          <p:nvPr/>
        </p:nvSpPr>
        <p:spPr>
          <a:xfrm>
            <a:off x="923544" y="1563624"/>
            <a:ext cx="6858000" cy="0"/>
          </a:xfrm>
          <a:prstGeom prst="line">
            <a:avLst/>
          </a:prstGeom>
          <a:noFill/>
          <a:ln w="25400">
            <a:solidFill>
              <a:srgbClr val="D9DBE7"/>
            </a:solidFill>
            <a:prstDash val="solid"/>
          </a:ln>
        </p:spPr>
      </p:sp>
      <p:sp>
        <p:nvSpPr>
          <p:cNvPr id="4" name="Paso 1"/>
          <p:cNvSpPr/>
          <p:nvPr/>
        </p:nvSpPr>
        <p:spPr>
          <a:xfrm>
            <a:off x="640080" y="1280160"/>
            <a:ext cx="566928" cy="566928"/>
          </a:xfrm>
          <a:prstGeom prst="ellipse">
            <a:avLst/>
          </a:prstGeom>
          <a:solidFill>
            <a:schemeClr val="accent1"/>
          </a:solidFill>
          <a:ln w="38100">
            <a:solidFill>
              <a:schemeClr val="bg1"/>
            </a:solidFill>
            <a:prstDash val="solid"/>
          </a:ln>
        </p:spPr>
      </p:sp>
      <p:sp>
        <p:nvSpPr>
          <p:cNvPr id="5" name="Text 3"/>
          <p:cNvSpPr txBox="1"/>
          <p:nvPr/>
        </p:nvSpPr>
        <p:spPr>
          <a:xfrm>
            <a:off x="640080" y="1280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457200" y="2011680"/>
            <a:ext cx="1280160" cy="502920"/>
          </a:xfrm>
          <a:prstGeom prst="rect">
            <a:avLst/>
          </a:prstGeom>
          <a:noFill/>
          <a:ln/>
        </p:spPr>
        <p:txBody>
          <a:bodyPr wrap="square" lIns="0" tIns="0" rIns="0" bIns="0" rtlCol="0" anchor="t"/>
          <a:lstStyle/>
          <a:p>
            <a:pPr indent="0" marL="0">
              <a:buNone/>
            </a:pPr>
            <a:r>
              <a:rPr lang="en-US" sz="1400" b="1" dirty="0">
                <a:solidFill>
                  <a:schemeClr val="tx2"/>
                </a:solidFill>
              </a:rPr>
              <a:t>Nos conocemos</a:t>
            </a:r>
            <a:endParaRPr lang="en-US" sz="1400" dirty="0"/>
          </a:p>
        </p:txBody>
      </p:sp>
      <p:sp>
        <p:nvSpPr>
          <p:cNvPr id="7" name="Text 5"/>
          <p:cNvSpPr txBox="1"/>
          <p:nvPr/>
        </p:nvSpPr>
        <p:spPr>
          <a:xfrm>
            <a:off x="457200" y="2560320"/>
            <a:ext cx="1234440" cy="1280160"/>
          </a:xfrm>
          <a:prstGeom prst="rect">
            <a:avLst/>
          </a:prstGeom>
          <a:noFill/>
          <a:ln/>
        </p:spPr>
        <p:txBody>
          <a:bodyPr wrap="square" lIns="0" tIns="0" rIns="0" bIns="0" rtlCol="0" anchor="t"/>
          <a:lstStyle/>
          <a:p>
            <a:pPr indent="0" marL="0">
              <a:buNone/>
            </a:pPr>
            <a:r>
              <a:rPr lang="en-US" sz="1200" dirty="0">
                <a:solidFill>
                  <a:schemeClr val="tx1"/>
                </a:solidFill>
              </a:rPr>
              <a:t>Hablamos de ti, de tu situación y de lo que quieres conseguir.</a:t>
            </a:r>
            <a:endParaRPr lang="en-US" sz="1200" dirty="0"/>
          </a:p>
        </p:txBody>
      </p:sp>
      <p:sp>
        <p:nvSpPr>
          <p:cNvPr id="8" name="Paso 2"/>
          <p:cNvSpPr/>
          <p:nvPr/>
        </p:nvSpPr>
        <p:spPr>
          <a:xfrm>
            <a:off x="2011680" y="1280160"/>
            <a:ext cx="566928" cy="566928"/>
          </a:xfrm>
          <a:prstGeom prst="ellipse">
            <a:avLst/>
          </a:prstGeom>
          <a:solidFill>
            <a:schemeClr val="accent1"/>
          </a:solidFill>
          <a:ln w="38100">
            <a:solidFill>
              <a:schemeClr val="bg1"/>
            </a:solidFill>
            <a:prstDash val="solid"/>
          </a:ln>
        </p:spPr>
      </p:sp>
      <p:sp>
        <p:nvSpPr>
          <p:cNvPr id="9" name="Text 7"/>
          <p:cNvSpPr txBox="1"/>
          <p:nvPr/>
        </p:nvSpPr>
        <p:spPr>
          <a:xfrm>
            <a:off x="2011680" y="1280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1828800" y="2011680"/>
            <a:ext cx="1280160" cy="502920"/>
          </a:xfrm>
          <a:prstGeom prst="rect">
            <a:avLst/>
          </a:prstGeom>
          <a:noFill/>
          <a:ln/>
        </p:spPr>
        <p:txBody>
          <a:bodyPr wrap="square" lIns="0" tIns="0" rIns="0" bIns="0" rtlCol="0" anchor="t"/>
          <a:lstStyle/>
          <a:p>
            <a:pPr indent="0" marL="0">
              <a:buNone/>
            </a:pPr>
            <a:r>
              <a:rPr lang="en-US" sz="1400" b="1" dirty="0">
                <a:solidFill>
                  <a:schemeClr val="tx2"/>
                </a:solidFill>
              </a:rPr>
              <a:t>Tu perfil</a:t>
            </a:r>
            <a:endParaRPr lang="en-US" sz="1400" dirty="0"/>
          </a:p>
        </p:txBody>
      </p:sp>
      <p:sp>
        <p:nvSpPr>
          <p:cNvPr id="11" name="Text 9"/>
          <p:cNvSpPr txBox="1"/>
          <p:nvPr/>
        </p:nvSpPr>
        <p:spPr>
          <a:xfrm>
            <a:off x="1828800" y="2560320"/>
            <a:ext cx="1234440" cy="1280160"/>
          </a:xfrm>
          <a:prstGeom prst="rect">
            <a:avLst/>
          </a:prstGeom>
          <a:noFill/>
          <a:ln/>
        </p:spPr>
        <p:txBody>
          <a:bodyPr wrap="square" lIns="0" tIns="0" rIns="0" bIns="0" rtlCol="0" anchor="t"/>
          <a:lstStyle/>
          <a:p>
            <a:pPr indent="0" marL="0">
              <a:buNone/>
            </a:pPr>
            <a:r>
              <a:rPr lang="en-US" sz="1200" dirty="0">
                <a:solidFill>
                  <a:schemeClr val="tx1"/>
                </a:solidFill>
              </a:rPr>
              <a:t>Un cuestionario sencillo para saber cuánto riesgo es adecuado para ti.</a:t>
            </a:r>
            <a:endParaRPr lang="en-US" sz="1200" dirty="0"/>
          </a:p>
        </p:txBody>
      </p:sp>
      <p:sp>
        <p:nvSpPr>
          <p:cNvPr id="12" name="Paso 3"/>
          <p:cNvSpPr/>
          <p:nvPr/>
        </p:nvSpPr>
        <p:spPr>
          <a:xfrm>
            <a:off x="3383280" y="1280160"/>
            <a:ext cx="566928" cy="566928"/>
          </a:xfrm>
          <a:prstGeom prst="ellipse">
            <a:avLst/>
          </a:prstGeom>
          <a:solidFill>
            <a:schemeClr val="accent2"/>
          </a:solidFill>
          <a:ln w="38100">
            <a:solidFill>
              <a:schemeClr val="bg1"/>
            </a:solidFill>
            <a:prstDash val="solid"/>
          </a:ln>
        </p:spPr>
      </p:sp>
      <p:sp>
        <p:nvSpPr>
          <p:cNvPr id="13" name="Text 11"/>
          <p:cNvSpPr txBox="1"/>
          <p:nvPr/>
        </p:nvSpPr>
        <p:spPr>
          <a:xfrm>
            <a:off x="3383280" y="1280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3</a:t>
            </a:r>
            <a:endParaRPr lang="en-US" sz="2000" dirty="0"/>
          </a:p>
        </p:txBody>
      </p:sp>
      <p:sp>
        <p:nvSpPr>
          <p:cNvPr id="14" name="Text 12"/>
          <p:cNvSpPr txBox="1"/>
          <p:nvPr/>
        </p:nvSpPr>
        <p:spPr>
          <a:xfrm>
            <a:off x="3200400" y="2011680"/>
            <a:ext cx="1280160" cy="502920"/>
          </a:xfrm>
          <a:prstGeom prst="rect">
            <a:avLst/>
          </a:prstGeom>
          <a:noFill/>
          <a:ln/>
        </p:spPr>
        <p:txBody>
          <a:bodyPr wrap="square" lIns="0" tIns="0" rIns="0" bIns="0" rtlCol="0" anchor="t"/>
          <a:lstStyle/>
          <a:p>
            <a:pPr indent="0" marL="0">
              <a:buNone/>
            </a:pPr>
            <a:r>
              <a:rPr lang="en-US" sz="1400" b="1" dirty="0">
                <a:solidFill>
                  <a:schemeClr val="tx2"/>
                </a:solidFill>
              </a:rPr>
              <a:t>Tu plan</a:t>
            </a:r>
            <a:endParaRPr lang="en-US" sz="1400" dirty="0"/>
          </a:p>
        </p:txBody>
      </p:sp>
      <p:sp>
        <p:nvSpPr>
          <p:cNvPr id="15" name="Text 13"/>
          <p:cNvSpPr txBox="1"/>
          <p:nvPr/>
        </p:nvSpPr>
        <p:spPr>
          <a:xfrm>
            <a:off x="3200400" y="2560320"/>
            <a:ext cx="1234440" cy="1280160"/>
          </a:xfrm>
          <a:prstGeom prst="rect">
            <a:avLst/>
          </a:prstGeom>
          <a:noFill/>
          <a:ln/>
        </p:spPr>
        <p:txBody>
          <a:bodyPr wrap="square" lIns="0" tIns="0" rIns="0" bIns="0" rtlCol="0" anchor="t"/>
          <a:lstStyle/>
          <a:p>
            <a:pPr indent="0" marL="0">
              <a:buNone/>
            </a:pPr>
            <a:r>
              <a:rPr lang="en-US" sz="1200" dirty="0">
                <a:solidFill>
                  <a:schemeClr val="tx1"/>
                </a:solidFill>
              </a:rPr>
              <a:t>Diseñamos tu cartera y te explicamos por qué encaja contigo.</a:t>
            </a:r>
            <a:endParaRPr lang="en-US" sz="1200" dirty="0"/>
          </a:p>
        </p:txBody>
      </p:sp>
      <p:sp>
        <p:nvSpPr>
          <p:cNvPr id="16" name="Paso 4"/>
          <p:cNvSpPr/>
          <p:nvPr/>
        </p:nvSpPr>
        <p:spPr>
          <a:xfrm>
            <a:off x="4754880" y="1280160"/>
            <a:ext cx="566928" cy="566928"/>
          </a:xfrm>
          <a:prstGeom prst="ellipse">
            <a:avLst/>
          </a:prstGeom>
          <a:solidFill>
            <a:schemeClr val="accent2"/>
          </a:solidFill>
          <a:ln w="38100">
            <a:solidFill>
              <a:schemeClr val="bg1"/>
            </a:solidFill>
            <a:prstDash val="solid"/>
          </a:ln>
        </p:spPr>
      </p:sp>
      <p:sp>
        <p:nvSpPr>
          <p:cNvPr id="17" name="Text 15"/>
          <p:cNvSpPr txBox="1"/>
          <p:nvPr/>
        </p:nvSpPr>
        <p:spPr>
          <a:xfrm>
            <a:off x="4754880" y="1280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4</a:t>
            </a:r>
            <a:endParaRPr lang="en-US" sz="2000" dirty="0"/>
          </a:p>
        </p:txBody>
      </p:sp>
      <p:sp>
        <p:nvSpPr>
          <p:cNvPr id="18" name="Text 16"/>
          <p:cNvSpPr txBox="1"/>
          <p:nvPr/>
        </p:nvSpPr>
        <p:spPr>
          <a:xfrm>
            <a:off x="4572000" y="2011680"/>
            <a:ext cx="1280160" cy="502920"/>
          </a:xfrm>
          <a:prstGeom prst="rect">
            <a:avLst/>
          </a:prstGeom>
          <a:noFill/>
          <a:ln/>
        </p:spPr>
        <p:txBody>
          <a:bodyPr wrap="square" lIns="0" tIns="0" rIns="0" bIns="0" rtlCol="0" anchor="t"/>
          <a:lstStyle/>
          <a:p>
            <a:pPr indent="0" marL="0">
              <a:buNone/>
            </a:pPr>
            <a:r>
              <a:rPr lang="en-US" sz="1400" b="1" dirty="0">
                <a:solidFill>
                  <a:schemeClr val="tx2"/>
                </a:solidFill>
              </a:rPr>
              <a:t>Lo firmamos</a:t>
            </a:r>
            <a:endParaRPr lang="en-US" sz="1400" dirty="0"/>
          </a:p>
        </p:txBody>
      </p:sp>
      <p:sp>
        <p:nvSpPr>
          <p:cNvPr id="19" name="Text 17"/>
          <p:cNvSpPr txBox="1"/>
          <p:nvPr/>
        </p:nvSpPr>
        <p:spPr>
          <a:xfrm>
            <a:off x="4572000" y="2560320"/>
            <a:ext cx="1234440" cy="1280160"/>
          </a:xfrm>
          <a:prstGeom prst="rect">
            <a:avLst/>
          </a:prstGeom>
          <a:noFill/>
          <a:ln/>
        </p:spPr>
        <p:txBody>
          <a:bodyPr wrap="square" lIns="0" tIns="0" rIns="0" bIns="0" rtlCol="0" anchor="t"/>
          <a:lstStyle/>
          <a:p>
            <a:pPr indent="0" marL="0">
              <a:buNone/>
            </a:pPr>
            <a:r>
              <a:rPr lang="en-US" sz="1200" dirty="0">
                <a:solidFill>
                  <a:schemeClr val="tx1"/>
                </a:solidFill>
              </a:rPr>
              <a:t>Firmamos un contrato con todas las condiciones por escrito.</a:t>
            </a:r>
            <a:endParaRPr lang="en-US" sz="1200" dirty="0"/>
          </a:p>
        </p:txBody>
      </p:sp>
      <p:sp>
        <p:nvSpPr>
          <p:cNvPr id="20" name="Paso 5"/>
          <p:cNvSpPr/>
          <p:nvPr/>
        </p:nvSpPr>
        <p:spPr>
          <a:xfrm>
            <a:off x="6126480" y="1280160"/>
            <a:ext cx="566928" cy="566928"/>
          </a:xfrm>
          <a:prstGeom prst="ellipse">
            <a:avLst/>
          </a:prstGeom>
          <a:solidFill>
            <a:schemeClr val="accent3"/>
          </a:solidFill>
          <a:ln w="38100">
            <a:solidFill>
              <a:schemeClr val="bg1"/>
            </a:solidFill>
            <a:prstDash val="solid"/>
          </a:ln>
        </p:spPr>
      </p:sp>
      <p:sp>
        <p:nvSpPr>
          <p:cNvPr id="21" name="Text 19"/>
          <p:cNvSpPr txBox="1"/>
          <p:nvPr/>
        </p:nvSpPr>
        <p:spPr>
          <a:xfrm>
            <a:off x="6126480" y="1280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5</a:t>
            </a:r>
            <a:endParaRPr lang="en-US" sz="2000" dirty="0"/>
          </a:p>
        </p:txBody>
      </p:sp>
      <p:sp>
        <p:nvSpPr>
          <p:cNvPr id="22" name="Text 20"/>
          <p:cNvSpPr txBox="1"/>
          <p:nvPr/>
        </p:nvSpPr>
        <p:spPr>
          <a:xfrm>
            <a:off x="5943600" y="2011680"/>
            <a:ext cx="1280160" cy="502920"/>
          </a:xfrm>
          <a:prstGeom prst="rect">
            <a:avLst/>
          </a:prstGeom>
          <a:noFill/>
          <a:ln/>
        </p:spPr>
        <p:txBody>
          <a:bodyPr wrap="square" lIns="0" tIns="0" rIns="0" bIns="0" rtlCol="0" anchor="t"/>
          <a:lstStyle/>
          <a:p>
            <a:pPr indent="0" marL="0">
              <a:buNone/>
            </a:pPr>
            <a:r>
              <a:rPr lang="en-US" sz="1400" b="1" dirty="0">
                <a:solidFill>
                  <a:schemeClr val="tx2"/>
                </a:solidFill>
              </a:rPr>
              <a:t>Lo ponemos en marcha</a:t>
            </a:r>
            <a:endParaRPr lang="en-US" sz="1400" dirty="0"/>
          </a:p>
        </p:txBody>
      </p:sp>
      <p:sp>
        <p:nvSpPr>
          <p:cNvPr id="23" name="Text 21"/>
          <p:cNvSpPr txBox="1"/>
          <p:nvPr/>
        </p:nvSpPr>
        <p:spPr>
          <a:xfrm>
            <a:off x="5943600" y="2560320"/>
            <a:ext cx="1234440" cy="1280160"/>
          </a:xfrm>
          <a:prstGeom prst="rect">
            <a:avLst/>
          </a:prstGeom>
          <a:noFill/>
          <a:ln/>
        </p:spPr>
        <p:txBody>
          <a:bodyPr wrap="square" lIns="0" tIns="0" rIns="0" bIns="0" rtlCol="0" anchor="t"/>
          <a:lstStyle/>
          <a:p>
            <a:pPr indent="0" marL="0">
              <a:buNone/>
            </a:pPr>
            <a:r>
              <a:rPr lang="en-US" sz="1200" dirty="0">
                <a:solidFill>
                  <a:schemeClr val="tx1"/>
                </a:solidFill>
              </a:rPr>
              <a:t>Te guiamos paso a paso para abrir tu cuenta e invertir.</a:t>
            </a:r>
            <a:endParaRPr lang="en-US" sz="1200" dirty="0"/>
          </a:p>
        </p:txBody>
      </p:sp>
      <p:sp>
        <p:nvSpPr>
          <p:cNvPr id="24" name="Paso 6"/>
          <p:cNvSpPr/>
          <p:nvPr/>
        </p:nvSpPr>
        <p:spPr>
          <a:xfrm>
            <a:off x="7498080" y="1280160"/>
            <a:ext cx="566928" cy="566928"/>
          </a:xfrm>
          <a:prstGeom prst="ellipse">
            <a:avLst/>
          </a:prstGeom>
          <a:solidFill>
            <a:schemeClr val="accent3"/>
          </a:solidFill>
          <a:ln w="38100">
            <a:solidFill>
              <a:schemeClr val="bg1"/>
            </a:solidFill>
            <a:prstDash val="solid"/>
          </a:ln>
        </p:spPr>
      </p:sp>
      <p:sp>
        <p:nvSpPr>
          <p:cNvPr id="25" name="Text 23"/>
          <p:cNvSpPr txBox="1"/>
          <p:nvPr/>
        </p:nvSpPr>
        <p:spPr>
          <a:xfrm>
            <a:off x="7498080" y="1280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6</a:t>
            </a:r>
            <a:endParaRPr lang="en-US" sz="2000" dirty="0"/>
          </a:p>
        </p:txBody>
      </p:sp>
      <p:sp>
        <p:nvSpPr>
          <p:cNvPr id="26" name="Text 24"/>
          <p:cNvSpPr txBox="1"/>
          <p:nvPr/>
        </p:nvSpPr>
        <p:spPr>
          <a:xfrm>
            <a:off x="7315200" y="2011680"/>
            <a:ext cx="1280160" cy="502920"/>
          </a:xfrm>
          <a:prstGeom prst="rect">
            <a:avLst/>
          </a:prstGeom>
          <a:noFill/>
          <a:ln/>
        </p:spPr>
        <p:txBody>
          <a:bodyPr wrap="square" lIns="0" tIns="0" rIns="0" bIns="0" rtlCol="0" anchor="t"/>
          <a:lstStyle/>
          <a:p>
            <a:pPr indent="0" marL="0">
              <a:buNone/>
            </a:pPr>
            <a:r>
              <a:rPr lang="en-US" sz="1400" b="1" dirty="0">
                <a:solidFill>
                  <a:schemeClr val="tx2"/>
                </a:solidFill>
              </a:rPr>
              <a:t>Te acompañamos</a:t>
            </a:r>
            <a:endParaRPr lang="en-US" sz="1400" dirty="0"/>
          </a:p>
        </p:txBody>
      </p:sp>
      <p:sp>
        <p:nvSpPr>
          <p:cNvPr id="27" name="Text 25"/>
          <p:cNvSpPr txBox="1"/>
          <p:nvPr/>
        </p:nvSpPr>
        <p:spPr>
          <a:xfrm>
            <a:off x="7315200" y="2560320"/>
            <a:ext cx="1234440" cy="1280160"/>
          </a:xfrm>
          <a:prstGeom prst="rect">
            <a:avLst/>
          </a:prstGeom>
          <a:noFill/>
          <a:ln/>
        </p:spPr>
        <p:txBody>
          <a:bodyPr wrap="square" lIns="0" tIns="0" rIns="0" bIns="0" rtlCol="0" anchor="t"/>
          <a:lstStyle/>
          <a:p>
            <a:pPr indent="0" marL="0">
              <a:buNone/>
            </a:pPr>
            <a:r>
              <a:rPr lang="en-US" sz="1200" dirty="0">
                <a:solidFill>
                  <a:schemeClr val="tx1"/>
                </a:solidFill>
              </a:rPr>
              <a:t>Revisamos tu cartera y te informamos de forma periódica.</a:t>
            </a:r>
            <a:endParaRPr lang="en-US" sz="1200" dirty="0"/>
          </a:p>
        </p:txBody>
      </p:sp>
      <p:sp>
        <p:nvSpPr>
          <p:cNvPr id="28" name="Duración"/>
          <p:cNvSpPr/>
          <p:nvPr/>
        </p:nvSpPr>
        <p:spPr>
          <a:xfrm>
            <a:off x="457200" y="3886200"/>
            <a:ext cx="8229600" cy="502920"/>
          </a:xfrm>
          <a:prstGeom prst="roundRect">
            <a:avLst>
              <a:gd name="adj" fmla="val 21818"/>
            </a:avLst>
          </a:prstGeom>
          <a:solidFill>
            <a:schemeClr val="bg2"/>
          </a:solidFill>
          <a:ln/>
        </p:spPr>
      </p:sp>
      <p:sp>
        <p:nvSpPr>
          <p:cNvPr id="29" name="Text 27"/>
          <p:cNvSpPr txBox="1"/>
          <p:nvPr/>
        </p:nvSpPr>
        <p:spPr>
          <a:xfrm>
            <a:off x="685800" y="3886200"/>
            <a:ext cx="7863840" cy="502920"/>
          </a:xfrm>
          <a:prstGeom prst="rect">
            <a:avLst/>
          </a:prstGeom>
          <a:noFill/>
          <a:ln/>
        </p:spPr>
        <p:txBody>
          <a:bodyPr wrap="square" lIns="0" tIns="0" rIns="0" bIns="0" rtlCol="0" anchor="ctr"/>
          <a:lstStyle/>
          <a:p>
            <a:pPr indent="0" marL="0">
              <a:buNone/>
            </a:pPr>
            <a:r>
              <a:rPr lang="en-US" sz="1400" b="1" dirty="0">
                <a:solidFill>
                  <a:schemeClr val="tx2"/>
                </a:solidFill>
              </a:rPr>
              <a:t>Duración orientativa: </a:t>
            </a:r>
            <a:pPr indent="0" marL="0">
              <a:buNone/>
            </a:pPr>
            <a:r>
              <a:rPr lang="en-US" sz="1400" dirty="0">
                <a:solidFill>
                  <a:schemeClr val="tx2"/>
                </a:solidFill>
              </a:rPr>
              <a:t>de la primera reunión a tener tu cartera invertida pasan unas 4 a 6 semanas.</a:t>
            </a:r>
            <a:endParaRPr lang="en-US" sz="14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Qué necesitamos de ti y qué recibirás</a:t>
            </a:r>
            <a:endParaRPr lang="en-US" sz="2800" dirty="0"/>
          </a:p>
        </p:txBody>
      </p:sp>
      <p:sp>
        <p:nvSpPr>
          <p:cNvPr id="3" name="Lo que te pediremos"/>
          <p:cNvSpPr/>
          <p:nvPr/>
        </p:nvSpPr>
        <p:spPr>
          <a:xfrm>
            <a:off x="457200" y="1188720"/>
            <a:ext cx="3977640" cy="3108960"/>
          </a:xfrm>
          <a:prstGeom prst="roundRect">
            <a:avLst>
              <a:gd name="adj" fmla="val 3529"/>
            </a:avLst>
          </a:prstGeom>
          <a:solidFill>
            <a:schemeClr val="bg2"/>
          </a:solidFill>
          <a:ln/>
        </p:spPr>
      </p:sp>
      <p:sp>
        <p:nvSpPr>
          <p:cNvPr id="4" name="Icono Lo que te pediremos"/>
          <p:cNvSpPr/>
          <p:nvPr/>
        </p:nvSpPr>
        <p:spPr>
          <a:xfrm>
            <a:off x="731520" y="1371600"/>
            <a:ext cx="548640" cy="548640"/>
          </a:xfrm>
          <a:prstGeom prst="ellipse">
            <a:avLst/>
          </a:prstGeom>
          <a:solidFill>
            <a:schemeClr val="accent1"/>
          </a:solidFill>
          <a:ln/>
        </p:spPr>
      </p:sp>
      <p:pic>
        <p:nvPicPr>
          <p:cNvPr id="5" name="Icono Lo que te pediremos icono" descr="preencoded.png">    </p:cNvPr>
          <p:cNvPicPr>
            <a:picLocks noChangeAspect="1"/>
          </p:cNvPicPr>
          <p:nvPr/>
        </p:nvPicPr>
        <p:blipFill>
          <a:blip r:embed="rId1"/>
          <a:stretch>
            <a:fillRect/>
          </a:stretch>
        </p:blipFill>
        <p:spPr>
          <a:xfrm>
            <a:off x="868680" y="1508760"/>
            <a:ext cx="274320" cy="274320"/>
          </a:xfrm>
          <a:prstGeom prst="rect">
            <a:avLst/>
          </a:prstGeom>
        </p:spPr>
      </p:pic>
      <p:sp>
        <p:nvSpPr>
          <p:cNvPr id="6" name="Text 3"/>
          <p:cNvSpPr txBox="1"/>
          <p:nvPr/>
        </p:nvSpPr>
        <p:spPr>
          <a:xfrm>
            <a:off x="1417320" y="1371600"/>
            <a:ext cx="2834640" cy="548640"/>
          </a:xfrm>
          <a:prstGeom prst="rect">
            <a:avLst/>
          </a:prstGeom>
          <a:noFill/>
          <a:ln/>
        </p:spPr>
        <p:txBody>
          <a:bodyPr wrap="square" lIns="0" tIns="0" rIns="0" bIns="0" rtlCol="0" anchor="ctr"/>
          <a:lstStyle/>
          <a:p>
            <a:pPr indent="0" marL="0">
              <a:buNone/>
            </a:pPr>
            <a:r>
              <a:rPr lang="en-US" sz="1800" b="1" dirty="0">
                <a:solidFill>
                  <a:schemeClr val="tx2"/>
                </a:solidFill>
                <a:latin typeface="Arial" pitchFamily="34" charset="0"/>
                <a:ea typeface="Arial" pitchFamily="34" charset="-122"/>
                <a:cs typeface="Arial" pitchFamily="34" charset="-120"/>
              </a:rPr>
              <a:t>Lo que te pediremos</a:t>
            </a:r>
            <a:endParaRPr lang="en-US" sz="1800" dirty="0"/>
          </a:p>
        </p:txBody>
      </p:sp>
      <p:sp>
        <p:nvSpPr>
          <p:cNvPr id="7" name="Text 4"/>
          <p:cNvSpPr txBox="1"/>
          <p:nvPr/>
        </p:nvSpPr>
        <p:spPr>
          <a:xfrm>
            <a:off x="731520" y="2103120"/>
            <a:ext cx="347472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DNI o NIE</a:t>
            </a:r>
            <a:endParaRPr lang="en-US" sz="1400" dirty="0"/>
          </a:p>
          <a:p>
            <a:pPr marL="342900" indent="-342900">
              <a:spcAft>
                <a:spcPts val="500"/>
              </a:spcAft>
              <a:buSzPct val="100000"/>
              <a:buChar char="•"/>
            </a:pPr>
            <a:r>
              <a:rPr lang="en-US" sz="1400" dirty="0">
                <a:solidFill>
                  <a:schemeClr val="tx1"/>
                </a:solidFill>
              </a:rPr>
              <a:t>Justificante de domicilio</a:t>
            </a:r>
            <a:endParaRPr lang="en-US" sz="1400" dirty="0"/>
          </a:p>
          <a:p>
            <a:pPr marL="342900" indent="-342900">
              <a:spcAft>
                <a:spcPts val="500"/>
              </a:spcAft>
              <a:buSzPct val="100000"/>
              <a:buChar char="•"/>
            </a:pPr>
            <a:r>
              <a:rPr lang="en-US" sz="1400" dirty="0">
                <a:solidFill>
                  <a:schemeClr val="tx1"/>
                </a:solidFill>
              </a:rPr>
              <a:t>Última declaración de la renta</a:t>
            </a:r>
            <a:endParaRPr lang="en-US" sz="1400" dirty="0"/>
          </a:p>
          <a:p>
            <a:pPr marL="342900" indent="-342900">
              <a:spcAft>
                <a:spcPts val="500"/>
              </a:spcAft>
              <a:buSzPct val="100000"/>
              <a:buChar char="•"/>
            </a:pPr>
            <a:r>
              <a:rPr lang="en-US" sz="1400" dirty="0">
                <a:solidFill>
                  <a:schemeClr val="tx1"/>
                </a:solidFill>
              </a:rPr>
              <a:t>Extractos de tus ahorros e inversiones actuales</a:t>
            </a:r>
            <a:endParaRPr lang="en-US" sz="1400" dirty="0"/>
          </a:p>
          <a:p>
            <a:pPr marL="342900" indent="-342900">
              <a:spcAft>
                <a:spcPts val="500"/>
              </a:spcAft>
              <a:buSzPct val="100000"/>
              <a:buChar char="•"/>
            </a:pPr>
            <a:r>
              <a:rPr lang="en-US" sz="1400" dirty="0">
                <a:solidFill>
                  <a:schemeClr val="tx1"/>
                </a:solidFill>
              </a:rPr>
              <a:t>Responder al cuestionario con sinceridad</a:t>
            </a:r>
            <a:endParaRPr lang="en-US" sz="1400" dirty="0"/>
          </a:p>
        </p:txBody>
      </p:sp>
      <p:sp>
        <p:nvSpPr>
          <p:cNvPr id="8" name="Lo que recibirás"/>
          <p:cNvSpPr/>
          <p:nvPr/>
        </p:nvSpPr>
        <p:spPr>
          <a:xfrm>
            <a:off x="4709160" y="1188720"/>
            <a:ext cx="3977640" cy="3108960"/>
          </a:xfrm>
          <a:prstGeom prst="roundRect">
            <a:avLst>
              <a:gd name="adj" fmla="val 3529"/>
            </a:avLst>
          </a:prstGeom>
          <a:solidFill>
            <a:schemeClr val="bg2"/>
          </a:solidFill>
          <a:ln/>
        </p:spPr>
      </p:sp>
      <p:sp>
        <p:nvSpPr>
          <p:cNvPr id="9" name="Icono Lo que recibirás"/>
          <p:cNvSpPr/>
          <p:nvPr/>
        </p:nvSpPr>
        <p:spPr>
          <a:xfrm>
            <a:off x="4983480" y="1371600"/>
            <a:ext cx="548640" cy="548640"/>
          </a:xfrm>
          <a:prstGeom prst="ellipse">
            <a:avLst/>
          </a:prstGeom>
          <a:solidFill>
            <a:schemeClr val="accent3"/>
          </a:solidFill>
          <a:ln/>
        </p:spPr>
      </p:sp>
      <p:pic>
        <p:nvPicPr>
          <p:cNvPr id="10" name="Icono Lo que recibirás icono" descr="preencoded.png">    </p:cNvPr>
          <p:cNvPicPr>
            <a:picLocks noChangeAspect="1"/>
          </p:cNvPicPr>
          <p:nvPr/>
        </p:nvPicPr>
        <p:blipFill>
          <a:blip r:embed="rId2"/>
          <a:stretch>
            <a:fillRect/>
          </a:stretch>
        </p:blipFill>
        <p:spPr>
          <a:xfrm>
            <a:off x="5120640" y="1508760"/>
            <a:ext cx="274320" cy="274320"/>
          </a:xfrm>
          <a:prstGeom prst="rect">
            <a:avLst/>
          </a:prstGeom>
        </p:spPr>
      </p:pic>
      <p:sp>
        <p:nvSpPr>
          <p:cNvPr id="11" name="Text 7"/>
          <p:cNvSpPr txBox="1"/>
          <p:nvPr/>
        </p:nvSpPr>
        <p:spPr>
          <a:xfrm>
            <a:off x="5669280" y="1371600"/>
            <a:ext cx="2834640" cy="548640"/>
          </a:xfrm>
          <a:prstGeom prst="rect">
            <a:avLst/>
          </a:prstGeom>
          <a:noFill/>
          <a:ln/>
        </p:spPr>
        <p:txBody>
          <a:bodyPr wrap="square" lIns="0" tIns="0" rIns="0" bIns="0" rtlCol="0" anchor="ctr"/>
          <a:lstStyle/>
          <a:p>
            <a:pPr indent="0" marL="0">
              <a:buNone/>
            </a:pPr>
            <a:r>
              <a:rPr lang="en-US" sz="1800" b="1" dirty="0">
                <a:solidFill>
                  <a:schemeClr val="tx2"/>
                </a:solidFill>
                <a:latin typeface="Arial" pitchFamily="34" charset="0"/>
                <a:ea typeface="Arial" pitchFamily="34" charset="-122"/>
                <a:cs typeface="Arial" pitchFamily="34" charset="-120"/>
              </a:rPr>
              <a:t>Lo que recibirás</a:t>
            </a:r>
            <a:endParaRPr lang="en-US" sz="1800" dirty="0"/>
          </a:p>
        </p:txBody>
      </p:sp>
      <p:sp>
        <p:nvSpPr>
          <p:cNvPr id="12" name="Text 8"/>
          <p:cNvSpPr txBox="1"/>
          <p:nvPr/>
        </p:nvSpPr>
        <p:spPr>
          <a:xfrm>
            <a:off x="4983480" y="2103120"/>
            <a:ext cx="347472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Un diagnóstico de tu situación financiera</a:t>
            </a:r>
            <a:endParaRPr lang="en-US" sz="1400" dirty="0"/>
          </a:p>
          <a:p>
            <a:pPr marL="342900" indent="-342900">
              <a:spcAft>
                <a:spcPts val="500"/>
              </a:spcAft>
              <a:buSzPct val="100000"/>
              <a:buChar char="•"/>
            </a:pPr>
            <a:r>
              <a:rPr lang="en-US" sz="1400" dirty="0">
                <a:solidFill>
                  <a:schemeClr val="tx1"/>
                </a:solidFill>
              </a:rPr>
              <a:t>Tu perfil inversor</a:t>
            </a:r>
            <a:endParaRPr lang="en-US" sz="1400" dirty="0"/>
          </a:p>
          <a:p>
            <a:pPr marL="342900" indent="-342900">
              <a:spcAft>
                <a:spcPts val="500"/>
              </a:spcAft>
              <a:buSzPct val="100000"/>
              <a:buChar char="•"/>
            </a:pPr>
            <a:r>
              <a:rPr lang="en-US" sz="1400" dirty="0">
                <a:solidFill>
                  <a:schemeClr val="tx1"/>
                </a:solidFill>
              </a:rPr>
              <a:t>Una propuesta de cartera explicada</a:t>
            </a:r>
            <a:endParaRPr lang="en-US" sz="1400" dirty="0"/>
          </a:p>
          <a:p>
            <a:pPr marL="342900" indent="-342900">
              <a:spcAft>
                <a:spcPts val="500"/>
              </a:spcAft>
              <a:buSzPct val="100000"/>
              <a:buChar char="•"/>
            </a:pPr>
            <a:r>
              <a:rPr lang="en-US" sz="1400" dirty="0">
                <a:solidFill>
                  <a:schemeClr val="tx1"/>
                </a:solidFill>
              </a:rPr>
              <a:t>Una guía para ponerla en marcha</a:t>
            </a:r>
            <a:endParaRPr lang="en-US" sz="1400" dirty="0"/>
          </a:p>
          <a:p>
            <a:pPr marL="342900" indent="-342900">
              <a:spcAft>
                <a:spcPts val="500"/>
              </a:spcAft>
              <a:buSzPct val="100000"/>
              <a:buChar char="•"/>
            </a:pPr>
            <a:r>
              <a:rPr lang="en-US" sz="1400" dirty="0">
                <a:solidFill>
                  <a:schemeClr val="tx1"/>
                </a:solidFill>
              </a:rPr>
              <a:t>Informes periódicos de tu cartera</a:t>
            </a:r>
            <a:endParaRPr lang="en-US" sz="14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No te dejamos solo: seguimiento continuo</a:t>
            </a:r>
            <a:endParaRPr lang="en-US" sz="2800" dirty="0"/>
          </a:p>
        </p:txBody>
      </p:sp>
      <p:sp>
        <p:nvSpPr>
          <p:cNvPr id="3" name="Cada trimestre"/>
          <p:cNvSpPr/>
          <p:nvPr/>
        </p:nvSpPr>
        <p:spPr>
          <a:xfrm>
            <a:off x="457200" y="1188720"/>
            <a:ext cx="1920240" cy="2606040"/>
          </a:xfrm>
          <a:prstGeom prst="roundRect">
            <a:avLst>
              <a:gd name="adj" fmla="val 5714"/>
            </a:avLst>
          </a:prstGeom>
          <a:solidFill>
            <a:schemeClr val="bg2"/>
          </a:solidFill>
          <a:ln/>
        </p:spPr>
      </p:sp>
      <p:sp>
        <p:nvSpPr>
          <p:cNvPr id="4" name="Icono Cada trimestre"/>
          <p:cNvSpPr/>
          <p:nvPr/>
        </p:nvSpPr>
        <p:spPr>
          <a:xfrm>
            <a:off x="685800" y="1371600"/>
            <a:ext cx="548640" cy="548640"/>
          </a:xfrm>
          <a:prstGeom prst="ellipse">
            <a:avLst/>
          </a:prstGeom>
          <a:solidFill>
            <a:schemeClr val="accent1"/>
          </a:solidFill>
          <a:ln/>
        </p:spPr>
      </p:sp>
      <p:pic>
        <p:nvPicPr>
          <p:cNvPr id="5" name="Icono Cada trimestre icono" descr="preencoded.png">    </p:cNvPr>
          <p:cNvPicPr>
            <a:picLocks noChangeAspect="1"/>
          </p:cNvPicPr>
          <p:nvPr/>
        </p:nvPicPr>
        <p:blipFill>
          <a:blip r:embed="rId1"/>
          <a:stretch>
            <a:fillRect/>
          </a:stretch>
        </p:blipFill>
        <p:spPr>
          <a:xfrm>
            <a:off x="822960" y="1508760"/>
            <a:ext cx="274320" cy="274320"/>
          </a:xfrm>
          <a:prstGeom prst="rect">
            <a:avLst/>
          </a:prstGeom>
        </p:spPr>
      </p:pic>
      <p:sp>
        <p:nvSpPr>
          <p:cNvPr id="6" name="Text 3"/>
          <p:cNvSpPr txBox="1"/>
          <p:nvPr/>
        </p:nvSpPr>
        <p:spPr>
          <a:xfrm>
            <a:off x="685800" y="2057400"/>
            <a:ext cx="1554480" cy="5486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Cada trimestre</a:t>
            </a:r>
            <a:endParaRPr lang="en-US" sz="1500" dirty="0"/>
          </a:p>
        </p:txBody>
      </p:sp>
      <p:sp>
        <p:nvSpPr>
          <p:cNvPr id="7" name="Text 4"/>
          <p:cNvSpPr txBox="1"/>
          <p:nvPr/>
        </p:nvSpPr>
        <p:spPr>
          <a:xfrm>
            <a:off x="685800" y="2697480"/>
            <a:ext cx="1554480" cy="1051560"/>
          </a:xfrm>
          <a:prstGeom prst="rect">
            <a:avLst/>
          </a:prstGeom>
          <a:noFill/>
          <a:ln/>
        </p:spPr>
        <p:txBody>
          <a:bodyPr wrap="square" lIns="0" tIns="0" rIns="0" bIns="0" rtlCol="0" anchor="t"/>
          <a:lstStyle/>
          <a:p>
            <a:pPr indent="0" marL="0">
              <a:buNone/>
            </a:pPr>
            <a:r>
              <a:rPr lang="en-US" sz="1400" dirty="0">
                <a:solidFill>
                  <a:schemeClr val="tx1"/>
                </a:solidFill>
              </a:rPr>
              <a:t>Un informe con la evolución de tu cartera.</a:t>
            </a:r>
            <a:endParaRPr lang="en-US" sz="1400" dirty="0"/>
          </a:p>
        </p:txBody>
      </p:sp>
      <p:sp>
        <p:nvSpPr>
          <p:cNvPr id="8" name="Cada año"/>
          <p:cNvSpPr/>
          <p:nvPr/>
        </p:nvSpPr>
        <p:spPr>
          <a:xfrm>
            <a:off x="2560320" y="1188720"/>
            <a:ext cx="1920240" cy="2606040"/>
          </a:xfrm>
          <a:prstGeom prst="roundRect">
            <a:avLst>
              <a:gd name="adj" fmla="val 5714"/>
            </a:avLst>
          </a:prstGeom>
          <a:solidFill>
            <a:schemeClr val="bg2"/>
          </a:solidFill>
          <a:ln/>
        </p:spPr>
      </p:sp>
      <p:sp>
        <p:nvSpPr>
          <p:cNvPr id="9" name="Icono Cada año"/>
          <p:cNvSpPr/>
          <p:nvPr/>
        </p:nvSpPr>
        <p:spPr>
          <a:xfrm>
            <a:off x="2788920" y="1371600"/>
            <a:ext cx="548640" cy="548640"/>
          </a:xfrm>
          <a:prstGeom prst="ellipse">
            <a:avLst/>
          </a:prstGeom>
          <a:solidFill>
            <a:schemeClr val="accent2"/>
          </a:solidFill>
          <a:ln/>
        </p:spPr>
      </p:sp>
      <p:pic>
        <p:nvPicPr>
          <p:cNvPr id="10" name="Icono Cada año icono" descr="preencoded.png">    </p:cNvPr>
          <p:cNvPicPr>
            <a:picLocks noChangeAspect="1"/>
          </p:cNvPicPr>
          <p:nvPr/>
        </p:nvPicPr>
        <p:blipFill>
          <a:blip r:embed="rId2"/>
          <a:stretch>
            <a:fillRect/>
          </a:stretch>
        </p:blipFill>
        <p:spPr>
          <a:xfrm>
            <a:off x="2926080" y="1508760"/>
            <a:ext cx="274320" cy="274320"/>
          </a:xfrm>
          <a:prstGeom prst="rect">
            <a:avLst/>
          </a:prstGeom>
        </p:spPr>
      </p:pic>
      <p:sp>
        <p:nvSpPr>
          <p:cNvPr id="11" name="Text 7"/>
          <p:cNvSpPr txBox="1"/>
          <p:nvPr/>
        </p:nvSpPr>
        <p:spPr>
          <a:xfrm>
            <a:off x="2788920" y="2057400"/>
            <a:ext cx="1554480" cy="5486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Cada año</a:t>
            </a:r>
            <a:endParaRPr lang="en-US" sz="1500" dirty="0"/>
          </a:p>
        </p:txBody>
      </p:sp>
      <p:sp>
        <p:nvSpPr>
          <p:cNvPr id="12" name="Text 8"/>
          <p:cNvSpPr txBox="1"/>
          <p:nvPr/>
        </p:nvSpPr>
        <p:spPr>
          <a:xfrm>
            <a:off x="2788920" y="2697480"/>
            <a:ext cx="1554480" cy="1051560"/>
          </a:xfrm>
          <a:prstGeom prst="rect">
            <a:avLst/>
          </a:prstGeom>
          <a:noFill/>
          <a:ln/>
        </p:spPr>
        <p:txBody>
          <a:bodyPr wrap="square" lIns="0" tIns="0" rIns="0" bIns="0" rtlCol="0" anchor="t"/>
          <a:lstStyle/>
          <a:p>
            <a:pPr indent="0" marL="0">
              <a:buNone/>
            </a:pPr>
            <a:r>
              <a:rPr lang="en-US" sz="1400" dirty="0">
                <a:solidFill>
                  <a:schemeClr val="tx1"/>
                </a:solidFill>
              </a:rPr>
              <a:t>Reunión de revisión, actualización de tu perfil e informe de costes.</a:t>
            </a:r>
            <a:endParaRPr lang="en-US" sz="1400" dirty="0"/>
          </a:p>
        </p:txBody>
      </p:sp>
      <p:sp>
        <p:nvSpPr>
          <p:cNvPr id="13" name="Cuando haga falta"/>
          <p:cNvSpPr/>
          <p:nvPr/>
        </p:nvSpPr>
        <p:spPr>
          <a:xfrm>
            <a:off x="4663440" y="1188720"/>
            <a:ext cx="1920240" cy="2606040"/>
          </a:xfrm>
          <a:prstGeom prst="roundRect">
            <a:avLst>
              <a:gd name="adj" fmla="val 5714"/>
            </a:avLst>
          </a:prstGeom>
          <a:solidFill>
            <a:schemeClr val="bg2"/>
          </a:solidFill>
          <a:ln/>
        </p:spPr>
      </p:sp>
      <p:sp>
        <p:nvSpPr>
          <p:cNvPr id="14" name="Icono Cuando haga falta"/>
          <p:cNvSpPr/>
          <p:nvPr/>
        </p:nvSpPr>
        <p:spPr>
          <a:xfrm>
            <a:off x="4892040" y="1371600"/>
            <a:ext cx="548640" cy="548640"/>
          </a:xfrm>
          <a:prstGeom prst="ellipse">
            <a:avLst/>
          </a:prstGeom>
          <a:solidFill>
            <a:schemeClr val="accent3"/>
          </a:solidFill>
          <a:ln/>
        </p:spPr>
      </p:sp>
      <p:pic>
        <p:nvPicPr>
          <p:cNvPr id="15" name="Icono Cuando haga falta icono" descr="preencoded.png">    </p:cNvPr>
          <p:cNvPicPr>
            <a:picLocks noChangeAspect="1"/>
          </p:cNvPicPr>
          <p:nvPr/>
        </p:nvPicPr>
        <p:blipFill>
          <a:blip r:embed="rId3"/>
          <a:stretch>
            <a:fillRect/>
          </a:stretch>
        </p:blipFill>
        <p:spPr>
          <a:xfrm>
            <a:off x="5029200" y="1508760"/>
            <a:ext cx="274320" cy="274320"/>
          </a:xfrm>
          <a:prstGeom prst="rect">
            <a:avLst/>
          </a:prstGeom>
        </p:spPr>
      </p:pic>
      <p:sp>
        <p:nvSpPr>
          <p:cNvPr id="16" name="Text 11"/>
          <p:cNvSpPr txBox="1"/>
          <p:nvPr/>
        </p:nvSpPr>
        <p:spPr>
          <a:xfrm>
            <a:off x="4892040" y="2057400"/>
            <a:ext cx="1554480" cy="5486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Cuando haga falta</a:t>
            </a:r>
            <a:endParaRPr lang="en-US" sz="1500" dirty="0"/>
          </a:p>
        </p:txBody>
      </p:sp>
      <p:sp>
        <p:nvSpPr>
          <p:cNvPr id="17" name="Text 12"/>
          <p:cNvSpPr txBox="1"/>
          <p:nvPr/>
        </p:nvSpPr>
        <p:spPr>
          <a:xfrm>
            <a:off x="4892040" y="2697480"/>
            <a:ext cx="1554480" cy="1051560"/>
          </a:xfrm>
          <a:prstGeom prst="rect">
            <a:avLst/>
          </a:prstGeom>
          <a:noFill/>
          <a:ln/>
        </p:spPr>
        <p:txBody>
          <a:bodyPr wrap="square" lIns="0" tIns="0" rIns="0" bIns="0" rtlCol="0" anchor="t"/>
          <a:lstStyle/>
          <a:p>
            <a:pPr indent="0" marL="0">
              <a:buNone/>
            </a:pPr>
            <a:r>
              <a:rPr lang="en-US" sz="1400" dirty="0">
                <a:solidFill>
                  <a:schemeClr val="tx1"/>
                </a:solidFill>
              </a:rPr>
              <a:t>Reequilibramos tu cartera si se aleja de su plan.</a:t>
            </a:r>
            <a:endParaRPr lang="en-US" sz="1400" dirty="0"/>
          </a:p>
        </p:txBody>
      </p:sp>
      <p:sp>
        <p:nvSpPr>
          <p:cNvPr id="18" name="Cuando cambie tu vida"/>
          <p:cNvSpPr/>
          <p:nvPr/>
        </p:nvSpPr>
        <p:spPr>
          <a:xfrm>
            <a:off x="6766560" y="1188720"/>
            <a:ext cx="1920240" cy="2606040"/>
          </a:xfrm>
          <a:prstGeom prst="roundRect">
            <a:avLst>
              <a:gd name="adj" fmla="val 5714"/>
            </a:avLst>
          </a:prstGeom>
          <a:solidFill>
            <a:schemeClr val="bg2"/>
          </a:solidFill>
          <a:ln/>
        </p:spPr>
      </p:sp>
      <p:sp>
        <p:nvSpPr>
          <p:cNvPr id="19" name="Icono Cuando cambie tu vida"/>
          <p:cNvSpPr/>
          <p:nvPr/>
        </p:nvSpPr>
        <p:spPr>
          <a:xfrm>
            <a:off x="6995160" y="1371600"/>
            <a:ext cx="548640" cy="548640"/>
          </a:xfrm>
          <a:prstGeom prst="ellipse">
            <a:avLst/>
          </a:prstGeom>
          <a:solidFill>
            <a:schemeClr val="accent4"/>
          </a:solidFill>
          <a:ln/>
        </p:spPr>
      </p:sp>
      <p:pic>
        <p:nvPicPr>
          <p:cNvPr id="20" name="Icono Cuando cambie tu vida icono" descr="preencoded.png">    </p:cNvPr>
          <p:cNvPicPr>
            <a:picLocks noChangeAspect="1"/>
          </p:cNvPicPr>
          <p:nvPr/>
        </p:nvPicPr>
        <p:blipFill>
          <a:blip r:embed="rId4"/>
          <a:stretch>
            <a:fillRect/>
          </a:stretch>
        </p:blipFill>
        <p:spPr>
          <a:xfrm>
            <a:off x="7132320" y="1508760"/>
            <a:ext cx="274320" cy="274320"/>
          </a:xfrm>
          <a:prstGeom prst="rect">
            <a:avLst/>
          </a:prstGeom>
        </p:spPr>
      </p:pic>
      <p:sp>
        <p:nvSpPr>
          <p:cNvPr id="21" name="Text 15"/>
          <p:cNvSpPr txBox="1"/>
          <p:nvPr/>
        </p:nvSpPr>
        <p:spPr>
          <a:xfrm>
            <a:off x="6995160" y="2057400"/>
            <a:ext cx="1554480" cy="5486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Cuando cambie tu vida</a:t>
            </a:r>
            <a:endParaRPr lang="en-US" sz="1500" dirty="0"/>
          </a:p>
        </p:txBody>
      </p:sp>
      <p:sp>
        <p:nvSpPr>
          <p:cNvPr id="22" name="Text 16"/>
          <p:cNvSpPr txBox="1"/>
          <p:nvPr/>
        </p:nvSpPr>
        <p:spPr>
          <a:xfrm>
            <a:off x="6995160" y="2697480"/>
            <a:ext cx="1554480" cy="1051560"/>
          </a:xfrm>
          <a:prstGeom prst="rect">
            <a:avLst/>
          </a:prstGeom>
          <a:noFill/>
          <a:ln/>
        </p:spPr>
        <p:txBody>
          <a:bodyPr wrap="square" lIns="0" tIns="0" rIns="0" bIns="0" rtlCol="0" anchor="t"/>
          <a:lstStyle/>
          <a:p>
            <a:pPr indent="0" marL="0">
              <a:buNone/>
            </a:pPr>
            <a:r>
              <a:rPr lang="en-US" sz="1400" dirty="0">
                <a:solidFill>
                  <a:schemeClr val="tx1"/>
                </a:solidFill>
              </a:rPr>
              <a:t>Cambio de trabajo, herencia, hijos o jubilación: revisamos tu plan.</a:t>
            </a:r>
            <a:endParaRPr lang="en-US" sz="1400" dirty="0"/>
          </a:p>
        </p:txBody>
      </p:sp>
      <p:sp>
        <p:nvSpPr>
          <p:cNvPr id="23" name="Icono contacto"/>
          <p:cNvSpPr/>
          <p:nvPr/>
        </p:nvSpPr>
        <p:spPr>
          <a:xfrm>
            <a:off x="457200" y="3959352"/>
            <a:ext cx="384048" cy="384048"/>
          </a:xfrm>
          <a:prstGeom prst="ellipse">
            <a:avLst/>
          </a:prstGeom>
          <a:solidFill>
            <a:schemeClr val="accent1"/>
          </a:solidFill>
          <a:ln/>
        </p:spPr>
      </p:sp>
      <p:pic>
        <p:nvPicPr>
          <p:cNvPr id="24" name="Icono contacto icono" descr="preencoded.png">    </p:cNvPr>
          <p:cNvPicPr>
            <a:picLocks noChangeAspect="1"/>
          </p:cNvPicPr>
          <p:nvPr/>
        </p:nvPicPr>
        <p:blipFill>
          <a:blip r:embed="rId5"/>
          <a:stretch>
            <a:fillRect/>
          </a:stretch>
        </p:blipFill>
        <p:spPr>
          <a:xfrm>
            <a:off x="553212" y="4055364"/>
            <a:ext cx="192024" cy="192024"/>
          </a:xfrm>
          <a:prstGeom prst="rect">
            <a:avLst/>
          </a:prstGeom>
        </p:spPr>
      </p:pic>
      <p:sp>
        <p:nvSpPr>
          <p:cNvPr id="25" name="Text 18"/>
          <p:cNvSpPr txBox="1"/>
          <p:nvPr/>
        </p:nvSpPr>
        <p:spPr>
          <a:xfrm>
            <a:off x="978408" y="3959352"/>
            <a:ext cx="7680960" cy="384048"/>
          </a:xfrm>
          <a:prstGeom prst="rect">
            <a:avLst/>
          </a:prstGeom>
          <a:noFill/>
          <a:ln/>
        </p:spPr>
        <p:txBody>
          <a:bodyPr wrap="square" lIns="0" tIns="0" rIns="0" bIns="0" rtlCol="0" anchor="ctr"/>
          <a:lstStyle/>
          <a:p>
            <a:pPr indent="0" marL="0">
              <a:buNone/>
            </a:pPr>
            <a:r>
              <a:rPr lang="en-US" sz="1400" dirty="0">
                <a:solidFill>
                  <a:schemeClr val="tx2"/>
                </a:solidFill>
              </a:rPr>
              <a:t>Puedes escribirnos siempre que lo necesites: respondemos en un máximo de 48 horas hábiles.</a:t>
            </a:r>
            <a:endParaRPr lang="en-US" sz="14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Honorarios claros, sin sorpresas</a:t>
            </a:r>
            <a:endParaRPr lang="en-US" sz="2800" dirty="0"/>
          </a:p>
        </p:txBody>
      </p:sp>
      <p:sp>
        <p:nvSpPr>
          <p:cNvPr id="3" name="Mensaje honorarios"/>
          <p:cNvSpPr/>
          <p:nvPr/>
        </p:nvSpPr>
        <p:spPr>
          <a:xfrm>
            <a:off x="457200" y="1188720"/>
            <a:ext cx="3291840" cy="3108960"/>
          </a:xfrm>
          <a:prstGeom prst="roundRect">
            <a:avLst>
              <a:gd name="adj" fmla="val 3529"/>
            </a:avLst>
          </a:prstGeom>
          <a:solidFill>
            <a:schemeClr val="tx2"/>
          </a:solidFill>
          <a:ln/>
        </p:spPr>
      </p:sp>
      <p:sp>
        <p:nvSpPr>
          <p:cNvPr id="4" name="Icono honorarios"/>
          <p:cNvSpPr/>
          <p:nvPr/>
        </p:nvSpPr>
        <p:spPr>
          <a:xfrm>
            <a:off x="731520" y="1463040"/>
            <a:ext cx="640080" cy="640080"/>
          </a:xfrm>
          <a:prstGeom prst="ellipse">
            <a:avLst/>
          </a:prstGeom>
          <a:solidFill>
            <a:schemeClr val="accent3"/>
          </a:solidFill>
          <a:ln/>
        </p:spPr>
      </p:sp>
      <p:pic>
        <p:nvPicPr>
          <p:cNvPr id="5" name="Icono honorarios icono" descr="preencoded.png">    </p:cNvPr>
          <p:cNvPicPr>
            <a:picLocks noChangeAspect="1"/>
          </p:cNvPicPr>
          <p:nvPr/>
        </p:nvPicPr>
        <p:blipFill>
          <a:blip r:embed="rId1"/>
          <a:stretch>
            <a:fillRect/>
          </a:stretch>
        </p:blipFill>
        <p:spPr>
          <a:xfrm>
            <a:off x="891540" y="1623060"/>
            <a:ext cx="320040" cy="320040"/>
          </a:xfrm>
          <a:prstGeom prst="rect">
            <a:avLst/>
          </a:prstGeom>
        </p:spPr>
      </p:pic>
      <p:sp>
        <p:nvSpPr>
          <p:cNvPr id="6" name="Text 3"/>
          <p:cNvSpPr txBox="1"/>
          <p:nvPr/>
        </p:nvSpPr>
        <p:spPr>
          <a:xfrm>
            <a:off x="731520" y="2331720"/>
            <a:ext cx="2788920" cy="109728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Sabrás siempre cuánto pagas y por qué</a:t>
            </a:r>
            <a:endParaRPr lang="en-US" sz="2200" dirty="0"/>
          </a:p>
        </p:txBody>
      </p:sp>
      <p:sp>
        <p:nvSpPr>
          <p:cNvPr id="7" name="Text 4"/>
          <p:cNvSpPr txBox="1"/>
          <p:nvPr/>
        </p:nvSpPr>
        <p:spPr>
          <a:xfrm>
            <a:off x="731520" y="3520440"/>
            <a:ext cx="2788920" cy="548640"/>
          </a:xfrm>
          <a:prstGeom prst="rect">
            <a:avLst/>
          </a:prstGeom>
          <a:noFill/>
          <a:ln/>
        </p:spPr>
        <p:txBody>
          <a:bodyPr wrap="square" lIns="0" tIns="0" rIns="0" bIns="0" rtlCol="0" anchor="t"/>
          <a:lstStyle/>
          <a:p>
            <a:pPr indent="0" marL="0">
              <a:buNone/>
            </a:pPr>
            <a:r>
              <a:rPr lang="en-US" sz="1400" dirty="0">
                <a:solidFill>
                  <a:schemeClr val="bg1"/>
                </a:solidFill>
              </a:rPr>
              <a:t>Nos pagas tú directamente, por asesorarte.</a:t>
            </a:r>
            <a:endParaRPr lang="en-US" sz="1400" dirty="0"/>
          </a:p>
        </p:txBody>
      </p:sp>
      <p:sp>
        <p:nvSpPr>
          <p:cNvPr id="8" name="Icono Un honorario pactado por escrito"/>
          <p:cNvSpPr/>
          <p:nvPr/>
        </p:nvSpPr>
        <p:spPr>
          <a:xfrm>
            <a:off x="4114800" y="1234440"/>
            <a:ext cx="502920" cy="502920"/>
          </a:xfrm>
          <a:prstGeom prst="ellipse">
            <a:avLst/>
          </a:prstGeom>
          <a:solidFill>
            <a:schemeClr val="accent1"/>
          </a:solidFill>
          <a:ln/>
        </p:spPr>
      </p:sp>
      <p:pic>
        <p:nvPicPr>
          <p:cNvPr id="9" name="Icono Un honorario pactado por escrito icono" descr="preencoded.png">    </p:cNvPr>
          <p:cNvPicPr>
            <a:picLocks noChangeAspect="1"/>
          </p:cNvPicPr>
          <p:nvPr/>
        </p:nvPicPr>
        <p:blipFill>
          <a:blip r:embed="rId2"/>
          <a:stretch>
            <a:fillRect/>
          </a:stretch>
        </p:blipFill>
        <p:spPr>
          <a:xfrm>
            <a:off x="4240530" y="1360170"/>
            <a:ext cx="251460" cy="251460"/>
          </a:xfrm>
          <a:prstGeom prst="rect">
            <a:avLst/>
          </a:prstGeom>
        </p:spPr>
      </p:pic>
      <p:sp>
        <p:nvSpPr>
          <p:cNvPr id="10" name="Text 6"/>
          <p:cNvSpPr txBox="1"/>
          <p:nvPr/>
        </p:nvSpPr>
        <p:spPr>
          <a:xfrm>
            <a:off x="4800600" y="1216152"/>
            <a:ext cx="3886200" cy="274320"/>
          </a:xfrm>
          <a:prstGeom prst="rect">
            <a:avLst/>
          </a:prstGeom>
          <a:noFill/>
          <a:ln/>
        </p:spPr>
        <p:txBody>
          <a:bodyPr wrap="square" lIns="0" tIns="0" rIns="0" bIns="0" rtlCol="0" anchor="t"/>
          <a:lstStyle/>
          <a:p>
            <a:pPr indent="0" marL="0">
              <a:buNone/>
            </a:pPr>
            <a:r>
              <a:rPr lang="en-US" sz="1500" b="1" dirty="0">
                <a:solidFill>
                  <a:schemeClr val="tx2"/>
                </a:solidFill>
              </a:rPr>
              <a:t>Un honorario pactado por escrito</a:t>
            </a:r>
            <a:endParaRPr lang="en-US" sz="1500" dirty="0"/>
          </a:p>
        </p:txBody>
      </p:sp>
      <p:sp>
        <p:nvSpPr>
          <p:cNvPr id="11" name="Text 7"/>
          <p:cNvSpPr txBox="1"/>
          <p:nvPr/>
        </p:nvSpPr>
        <p:spPr>
          <a:xfrm>
            <a:off x="4800600" y="1508760"/>
            <a:ext cx="3886200" cy="640080"/>
          </a:xfrm>
          <a:prstGeom prst="rect">
            <a:avLst/>
          </a:prstGeom>
          <a:noFill/>
          <a:ln/>
        </p:spPr>
        <p:txBody>
          <a:bodyPr wrap="square" lIns="0" tIns="0" rIns="0" bIns="0" rtlCol="0" anchor="t"/>
          <a:lstStyle/>
          <a:p>
            <a:pPr indent="0" marL="0">
              <a:buNone/>
            </a:pPr>
            <a:r>
              <a:rPr lang="en-US" sz="1400" dirty="0">
                <a:solidFill>
                  <a:schemeClr val="tx1"/>
                </a:solidFill>
              </a:rPr>
              <a:t>La tarifa concreta figura en tu contrato. Nada se cobra sin estar acordado.</a:t>
            </a:r>
            <a:endParaRPr lang="en-US" sz="1400" dirty="0"/>
          </a:p>
        </p:txBody>
      </p:sp>
      <p:sp>
        <p:nvSpPr>
          <p:cNvPr id="12" name="Icono El coste total, antes de empezar"/>
          <p:cNvSpPr/>
          <p:nvPr/>
        </p:nvSpPr>
        <p:spPr>
          <a:xfrm>
            <a:off x="4114800" y="2258568"/>
            <a:ext cx="502920" cy="502920"/>
          </a:xfrm>
          <a:prstGeom prst="ellipse">
            <a:avLst/>
          </a:prstGeom>
          <a:solidFill>
            <a:schemeClr val="accent2"/>
          </a:solidFill>
          <a:ln/>
        </p:spPr>
      </p:sp>
      <p:pic>
        <p:nvPicPr>
          <p:cNvPr id="13" name="Icono El coste total, antes de empezar icono" descr="preencoded.png">    </p:cNvPr>
          <p:cNvPicPr>
            <a:picLocks noChangeAspect="1"/>
          </p:cNvPicPr>
          <p:nvPr/>
        </p:nvPicPr>
        <p:blipFill>
          <a:blip r:embed="rId3"/>
          <a:stretch>
            <a:fillRect/>
          </a:stretch>
        </p:blipFill>
        <p:spPr>
          <a:xfrm>
            <a:off x="4240530" y="2384298"/>
            <a:ext cx="251460" cy="251460"/>
          </a:xfrm>
          <a:prstGeom prst="rect">
            <a:avLst/>
          </a:prstGeom>
        </p:spPr>
      </p:pic>
      <p:sp>
        <p:nvSpPr>
          <p:cNvPr id="14" name="Text 9"/>
          <p:cNvSpPr txBox="1"/>
          <p:nvPr/>
        </p:nvSpPr>
        <p:spPr>
          <a:xfrm>
            <a:off x="4800600" y="2240280"/>
            <a:ext cx="3886200" cy="274320"/>
          </a:xfrm>
          <a:prstGeom prst="rect">
            <a:avLst/>
          </a:prstGeom>
          <a:noFill/>
          <a:ln/>
        </p:spPr>
        <p:txBody>
          <a:bodyPr wrap="square" lIns="0" tIns="0" rIns="0" bIns="0" rtlCol="0" anchor="t"/>
          <a:lstStyle/>
          <a:p>
            <a:pPr indent="0" marL="0">
              <a:buNone/>
            </a:pPr>
            <a:r>
              <a:rPr lang="en-US" sz="1500" b="1" dirty="0">
                <a:solidFill>
                  <a:schemeClr val="tx2"/>
                </a:solidFill>
              </a:rPr>
              <a:t>El coste total, antes de empezar</a:t>
            </a:r>
            <a:endParaRPr lang="en-US" sz="1500" dirty="0"/>
          </a:p>
        </p:txBody>
      </p:sp>
      <p:sp>
        <p:nvSpPr>
          <p:cNvPr id="15" name="Text 10"/>
          <p:cNvSpPr txBox="1"/>
          <p:nvPr/>
        </p:nvSpPr>
        <p:spPr>
          <a:xfrm>
            <a:off x="4800600" y="2532888"/>
            <a:ext cx="3886200" cy="640080"/>
          </a:xfrm>
          <a:prstGeom prst="rect">
            <a:avLst/>
          </a:prstGeom>
          <a:noFill/>
          <a:ln/>
        </p:spPr>
        <p:txBody>
          <a:bodyPr wrap="square" lIns="0" tIns="0" rIns="0" bIns="0" rtlCol="0" anchor="t"/>
          <a:lstStyle/>
          <a:p>
            <a:pPr indent="0" marL="0">
              <a:buNone/>
            </a:pPr>
            <a:r>
              <a:rPr lang="en-US" sz="1400" dirty="0">
                <a:solidFill>
                  <a:schemeClr val="tx1"/>
                </a:solidFill>
              </a:rPr>
              <a:t>Te mostramos nuestro honorario más lo que cuestan los productos, todo junto.</a:t>
            </a:r>
            <a:endParaRPr lang="en-US" sz="1400" dirty="0"/>
          </a:p>
        </p:txBody>
      </p:sp>
      <p:sp>
        <p:nvSpPr>
          <p:cNvPr id="16" name="Icono Cada año, el detalle real"/>
          <p:cNvSpPr/>
          <p:nvPr/>
        </p:nvSpPr>
        <p:spPr>
          <a:xfrm>
            <a:off x="4114800" y="3282696"/>
            <a:ext cx="502920" cy="502920"/>
          </a:xfrm>
          <a:prstGeom prst="ellipse">
            <a:avLst/>
          </a:prstGeom>
          <a:solidFill>
            <a:schemeClr val="accent3"/>
          </a:solidFill>
          <a:ln/>
        </p:spPr>
      </p:sp>
      <p:pic>
        <p:nvPicPr>
          <p:cNvPr id="17" name="Icono Cada año, el detalle real icono" descr="preencoded.png">    </p:cNvPr>
          <p:cNvPicPr>
            <a:picLocks noChangeAspect="1"/>
          </p:cNvPicPr>
          <p:nvPr/>
        </p:nvPicPr>
        <p:blipFill>
          <a:blip r:embed="rId4"/>
          <a:stretch>
            <a:fillRect/>
          </a:stretch>
        </p:blipFill>
        <p:spPr>
          <a:xfrm>
            <a:off x="4240530" y="3408426"/>
            <a:ext cx="251460" cy="251460"/>
          </a:xfrm>
          <a:prstGeom prst="rect">
            <a:avLst/>
          </a:prstGeom>
        </p:spPr>
      </p:pic>
      <p:sp>
        <p:nvSpPr>
          <p:cNvPr id="18" name="Text 12"/>
          <p:cNvSpPr txBox="1"/>
          <p:nvPr/>
        </p:nvSpPr>
        <p:spPr>
          <a:xfrm>
            <a:off x="4800600" y="3264408"/>
            <a:ext cx="3886200" cy="274320"/>
          </a:xfrm>
          <a:prstGeom prst="rect">
            <a:avLst/>
          </a:prstGeom>
          <a:noFill/>
          <a:ln/>
        </p:spPr>
        <p:txBody>
          <a:bodyPr wrap="square" lIns="0" tIns="0" rIns="0" bIns="0" rtlCol="0" anchor="t"/>
          <a:lstStyle/>
          <a:p>
            <a:pPr indent="0" marL="0">
              <a:buNone/>
            </a:pPr>
            <a:r>
              <a:rPr lang="en-US" sz="1500" b="1" dirty="0">
                <a:solidFill>
                  <a:schemeClr val="tx2"/>
                </a:solidFill>
              </a:rPr>
              <a:t>Cada año, el detalle real</a:t>
            </a:r>
            <a:endParaRPr lang="en-US" sz="1500" dirty="0"/>
          </a:p>
        </p:txBody>
      </p:sp>
      <p:sp>
        <p:nvSpPr>
          <p:cNvPr id="19" name="Text 13"/>
          <p:cNvSpPr txBox="1"/>
          <p:nvPr/>
        </p:nvSpPr>
        <p:spPr>
          <a:xfrm>
            <a:off x="4800600" y="3557016"/>
            <a:ext cx="3886200" cy="640080"/>
          </a:xfrm>
          <a:prstGeom prst="rect">
            <a:avLst/>
          </a:prstGeom>
          <a:noFill/>
          <a:ln/>
        </p:spPr>
        <p:txBody>
          <a:bodyPr wrap="square" lIns="0" tIns="0" rIns="0" bIns="0" rtlCol="0" anchor="t"/>
          <a:lstStyle/>
          <a:p>
            <a:pPr indent="0" marL="0">
              <a:buNone/>
            </a:pPr>
            <a:r>
              <a:rPr lang="en-US" sz="1400" dirty="0">
                <a:solidFill>
                  <a:schemeClr val="tx1"/>
                </a:solidFill>
              </a:rPr>
              <a:t>Recibes un informe con todo lo que has pagado y su efecto en tu rentabilidad.</a:t>
            </a:r>
            <a:endParaRPr lang="en-US" sz="14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Preguntas frecuentes</a:t>
            </a:r>
            <a:endParaRPr lang="en-US" sz="2800" dirty="0"/>
          </a:p>
        </p:txBody>
      </p:sp>
      <p:sp>
        <p:nvSpPr>
          <p:cNvPr id="3" name="Pregunta 1"/>
          <p:cNvSpPr/>
          <p:nvPr/>
        </p:nvSpPr>
        <p:spPr>
          <a:xfrm>
            <a:off x="457200" y="1143000"/>
            <a:ext cx="2606040" cy="1481328"/>
          </a:xfrm>
          <a:prstGeom prst="roundRect">
            <a:avLst>
              <a:gd name="adj" fmla="val 7407"/>
            </a:avLst>
          </a:prstGeom>
          <a:solidFill>
            <a:schemeClr val="bg2"/>
          </a:solidFill>
          <a:ln/>
        </p:spPr>
      </p:sp>
      <p:sp>
        <p:nvSpPr>
          <p:cNvPr id="4" name="Text 2"/>
          <p:cNvSpPr txBox="1"/>
          <p:nvPr/>
        </p:nvSpPr>
        <p:spPr>
          <a:xfrm>
            <a:off x="640080" y="1252728"/>
            <a:ext cx="2286000" cy="457200"/>
          </a:xfrm>
          <a:prstGeom prst="rect">
            <a:avLst/>
          </a:prstGeom>
          <a:noFill/>
          <a:ln/>
        </p:spPr>
        <p:txBody>
          <a:bodyPr wrap="square" lIns="0" tIns="0" rIns="0" bIns="0" rtlCol="0" anchor="ctr"/>
          <a:lstStyle/>
          <a:p>
            <a:pPr indent="0" marL="0">
              <a:buNone/>
            </a:pPr>
            <a:r>
              <a:rPr lang="en-US" sz="1400" b="1" dirty="0">
                <a:solidFill>
                  <a:schemeClr val="accent1"/>
                </a:solidFill>
              </a:rPr>
              <a:t>¿Quién tiene mi dinero?</a:t>
            </a:r>
            <a:endParaRPr lang="en-US" sz="1400" dirty="0"/>
          </a:p>
        </p:txBody>
      </p:sp>
      <p:sp>
        <p:nvSpPr>
          <p:cNvPr id="5" name="Text 3"/>
          <p:cNvSpPr txBox="1"/>
          <p:nvPr/>
        </p:nvSpPr>
        <p:spPr>
          <a:xfrm>
            <a:off x="640080" y="1783080"/>
            <a:ext cx="2286000" cy="777240"/>
          </a:xfrm>
          <a:prstGeom prst="rect">
            <a:avLst/>
          </a:prstGeom>
          <a:noFill/>
          <a:ln/>
        </p:spPr>
        <p:txBody>
          <a:bodyPr wrap="square" lIns="0" tIns="0" rIns="0" bIns="0" rtlCol="0" anchor="t"/>
          <a:lstStyle/>
          <a:p>
            <a:pPr indent="0" marL="0">
              <a:buNone/>
            </a:pPr>
            <a:r>
              <a:rPr lang="en-US" sz="1200" dirty="0">
                <a:solidFill>
                  <a:schemeClr val="tx1"/>
                </a:solidFill>
              </a:rPr>
              <a:t>Siempre tú, en una cuenta a tu nombre en una entidad regulada. Nosotros no podemos moverlo.</a:t>
            </a:r>
            <a:endParaRPr lang="en-US" sz="1200" dirty="0"/>
          </a:p>
        </p:txBody>
      </p:sp>
      <p:sp>
        <p:nvSpPr>
          <p:cNvPr id="6" name="Pregunta 2"/>
          <p:cNvSpPr/>
          <p:nvPr/>
        </p:nvSpPr>
        <p:spPr>
          <a:xfrm>
            <a:off x="3264408" y="1143000"/>
            <a:ext cx="2606040" cy="1481328"/>
          </a:xfrm>
          <a:prstGeom prst="roundRect">
            <a:avLst>
              <a:gd name="adj" fmla="val 7407"/>
            </a:avLst>
          </a:prstGeom>
          <a:solidFill>
            <a:schemeClr val="bg2"/>
          </a:solidFill>
          <a:ln/>
        </p:spPr>
      </p:sp>
      <p:sp>
        <p:nvSpPr>
          <p:cNvPr id="7" name="Text 5"/>
          <p:cNvSpPr txBox="1"/>
          <p:nvPr/>
        </p:nvSpPr>
        <p:spPr>
          <a:xfrm>
            <a:off x="3447288" y="1252728"/>
            <a:ext cx="2286000" cy="457200"/>
          </a:xfrm>
          <a:prstGeom prst="rect">
            <a:avLst/>
          </a:prstGeom>
          <a:noFill/>
          <a:ln/>
        </p:spPr>
        <p:txBody>
          <a:bodyPr wrap="square" lIns="0" tIns="0" rIns="0" bIns="0" rtlCol="0" anchor="ctr"/>
          <a:lstStyle/>
          <a:p>
            <a:pPr indent="0" marL="0">
              <a:buNone/>
            </a:pPr>
            <a:r>
              <a:rPr lang="en-US" sz="1400" b="1" dirty="0">
                <a:solidFill>
                  <a:schemeClr val="accent1"/>
                </a:solidFill>
              </a:rPr>
              <a:t>¿Puedo sacar mi dinero cuando quiera?</a:t>
            </a:r>
            <a:endParaRPr lang="en-US" sz="1400" dirty="0"/>
          </a:p>
        </p:txBody>
      </p:sp>
      <p:sp>
        <p:nvSpPr>
          <p:cNvPr id="8" name="Text 6"/>
          <p:cNvSpPr txBox="1"/>
          <p:nvPr/>
        </p:nvSpPr>
        <p:spPr>
          <a:xfrm>
            <a:off x="3447288" y="1783080"/>
            <a:ext cx="2286000" cy="777240"/>
          </a:xfrm>
          <a:prstGeom prst="rect">
            <a:avLst/>
          </a:prstGeom>
          <a:noFill/>
          <a:ln/>
        </p:spPr>
        <p:txBody>
          <a:bodyPr wrap="square" lIns="0" tIns="0" rIns="0" bIns="0" rtlCol="0" anchor="t"/>
          <a:lstStyle/>
          <a:p>
            <a:pPr indent="0" marL="0">
              <a:buNone/>
            </a:pPr>
            <a:r>
              <a:rPr lang="en-US" sz="1200" dirty="0">
                <a:solidFill>
                  <a:schemeClr val="tx1"/>
                </a:solidFill>
              </a:rPr>
              <a:t>Sí. Los fondos se pueden vender en cualquier momento; el dinero llega en pocos días hábiles.</a:t>
            </a:r>
            <a:endParaRPr lang="en-US" sz="1200" dirty="0"/>
          </a:p>
        </p:txBody>
      </p:sp>
      <p:sp>
        <p:nvSpPr>
          <p:cNvPr id="9" name="Pregunta 3"/>
          <p:cNvSpPr/>
          <p:nvPr/>
        </p:nvSpPr>
        <p:spPr>
          <a:xfrm>
            <a:off x="6071616" y="1143000"/>
            <a:ext cx="2606040" cy="1481328"/>
          </a:xfrm>
          <a:prstGeom prst="roundRect">
            <a:avLst>
              <a:gd name="adj" fmla="val 7407"/>
            </a:avLst>
          </a:prstGeom>
          <a:solidFill>
            <a:schemeClr val="bg2"/>
          </a:solidFill>
          <a:ln/>
        </p:spPr>
      </p:sp>
      <p:sp>
        <p:nvSpPr>
          <p:cNvPr id="10" name="Text 8"/>
          <p:cNvSpPr txBox="1"/>
          <p:nvPr/>
        </p:nvSpPr>
        <p:spPr>
          <a:xfrm>
            <a:off x="6254496" y="1252728"/>
            <a:ext cx="2286000" cy="457200"/>
          </a:xfrm>
          <a:prstGeom prst="rect">
            <a:avLst/>
          </a:prstGeom>
          <a:noFill/>
          <a:ln/>
        </p:spPr>
        <p:txBody>
          <a:bodyPr wrap="square" lIns="0" tIns="0" rIns="0" bIns="0" rtlCol="0" anchor="ctr"/>
          <a:lstStyle/>
          <a:p>
            <a:pPr indent="0" marL="0">
              <a:buNone/>
            </a:pPr>
            <a:r>
              <a:rPr lang="en-US" sz="1400" b="1" dirty="0">
                <a:solidFill>
                  <a:schemeClr val="accent1"/>
                </a:solidFill>
              </a:rPr>
              <a:t>¿Qué pasa si la bolsa cae?</a:t>
            </a:r>
            <a:endParaRPr lang="en-US" sz="1400" dirty="0"/>
          </a:p>
        </p:txBody>
      </p:sp>
      <p:sp>
        <p:nvSpPr>
          <p:cNvPr id="11" name="Text 9"/>
          <p:cNvSpPr txBox="1"/>
          <p:nvPr/>
        </p:nvSpPr>
        <p:spPr>
          <a:xfrm>
            <a:off x="6254496" y="1783080"/>
            <a:ext cx="2286000" cy="777240"/>
          </a:xfrm>
          <a:prstGeom prst="rect">
            <a:avLst/>
          </a:prstGeom>
          <a:noFill/>
          <a:ln/>
        </p:spPr>
        <p:txBody>
          <a:bodyPr wrap="square" lIns="0" tIns="0" rIns="0" bIns="0" rtlCol="0" anchor="t"/>
          <a:lstStyle/>
          <a:p>
            <a:pPr indent="0" marL="0">
              <a:buNone/>
            </a:pPr>
            <a:r>
              <a:rPr lang="en-US" sz="1200" dirty="0">
                <a:solidFill>
                  <a:schemeClr val="tx1"/>
                </a:solidFill>
              </a:rPr>
              <a:t>Es normal y temporal. Tu cartera está pensada para tu perfil y te acompañamos para no vender por miedo.</a:t>
            </a:r>
            <a:endParaRPr lang="en-US" sz="1200" dirty="0"/>
          </a:p>
        </p:txBody>
      </p:sp>
      <p:sp>
        <p:nvSpPr>
          <p:cNvPr id="12" name="Pregunta 4"/>
          <p:cNvSpPr/>
          <p:nvPr/>
        </p:nvSpPr>
        <p:spPr>
          <a:xfrm>
            <a:off x="457200" y="2770632"/>
            <a:ext cx="2606040" cy="1481328"/>
          </a:xfrm>
          <a:prstGeom prst="roundRect">
            <a:avLst>
              <a:gd name="adj" fmla="val 7407"/>
            </a:avLst>
          </a:prstGeom>
          <a:solidFill>
            <a:schemeClr val="bg2"/>
          </a:solidFill>
          <a:ln/>
        </p:spPr>
      </p:sp>
      <p:sp>
        <p:nvSpPr>
          <p:cNvPr id="13" name="Text 11"/>
          <p:cNvSpPr txBox="1"/>
          <p:nvPr/>
        </p:nvSpPr>
        <p:spPr>
          <a:xfrm>
            <a:off x="640080" y="2880360"/>
            <a:ext cx="2286000" cy="457200"/>
          </a:xfrm>
          <a:prstGeom prst="rect">
            <a:avLst/>
          </a:prstGeom>
          <a:noFill/>
          <a:ln/>
        </p:spPr>
        <p:txBody>
          <a:bodyPr wrap="square" lIns="0" tIns="0" rIns="0" bIns="0" rtlCol="0" anchor="ctr"/>
          <a:lstStyle/>
          <a:p>
            <a:pPr indent="0" marL="0">
              <a:buNone/>
            </a:pPr>
            <a:r>
              <a:rPr lang="en-US" sz="1400" b="1" dirty="0">
                <a:solidFill>
                  <a:schemeClr val="accent1"/>
                </a:solidFill>
              </a:rPr>
              <a:t>¿Cuánto necesito para empezar?</a:t>
            </a:r>
            <a:endParaRPr lang="en-US" sz="1400" dirty="0"/>
          </a:p>
        </p:txBody>
      </p:sp>
      <p:sp>
        <p:nvSpPr>
          <p:cNvPr id="14" name="Text 12"/>
          <p:cNvSpPr txBox="1"/>
          <p:nvPr/>
        </p:nvSpPr>
        <p:spPr>
          <a:xfrm>
            <a:off x="640080" y="3410712"/>
            <a:ext cx="2286000" cy="777240"/>
          </a:xfrm>
          <a:prstGeom prst="rect">
            <a:avLst/>
          </a:prstGeom>
          <a:noFill/>
          <a:ln/>
        </p:spPr>
        <p:txBody>
          <a:bodyPr wrap="square" lIns="0" tIns="0" rIns="0" bIns="0" rtlCol="0" anchor="t"/>
          <a:lstStyle/>
          <a:p>
            <a:pPr indent="0" marL="0">
              <a:buNone/>
            </a:pPr>
            <a:r>
              <a:rPr lang="en-US" sz="1200" dirty="0">
                <a:solidFill>
                  <a:schemeClr val="tx1"/>
                </a:solidFill>
              </a:rPr>
              <a:t>Primero, tu colchón de seguridad. Después se puede empezar con aportaciones periódicas pequeñas.</a:t>
            </a:r>
            <a:endParaRPr lang="en-US" sz="1200" dirty="0"/>
          </a:p>
        </p:txBody>
      </p:sp>
      <p:sp>
        <p:nvSpPr>
          <p:cNvPr id="15" name="Pregunta 5"/>
          <p:cNvSpPr/>
          <p:nvPr/>
        </p:nvSpPr>
        <p:spPr>
          <a:xfrm>
            <a:off x="3264408" y="2770632"/>
            <a:ext cx="2606040" cy="1481328"/>
          </a:xfrm>
          <a:prstGeom prst="roundRect">
            <a:avLst>
              <a:gd name="adj" fmla="val 7407"/>
            </a:avLst>
          </a:prstGeom>
          <a:solidFill>
            <a:schemeClr val="bg2"/>
          </a:solidFill>
          <a:ln/>
        </p:spPr>
      </p:sp>
      <p:sp>
        <p:nvSpPr>
          <p:cNvPr id="16" name="Text 14"/>
          <p:cNvSpPr txBox="1"/>
          <p:nvPr/>
        </p:nvSpPr>
        <p:spPr>
          <a:xfrm>
            <a:off x="3447288" y="2880360"/>
            <a:ext cx="2286000" cy="457200"/>
          </a:xfrm>
          <a:prstGeom prst="rect">
            <a:avLst/>
          </a:prstGeom>
          <a:noFill/>
          <a:ln/>
        </p:spPr>
        <p:txBody>
          <a:bodyPr wrap="square" lIns="0" tIns="0" rIns="0" bIns="0" rtlCol="0" anchor="ctr"/>
          <a:lstStyle/>
          <a:p>
            <a:pPr indent="0" marL="0">
              <a:buNone/>
            </a:pPr>
            <a:r>
              <a:rPr lang="en-US" sz="1400" b="1" dirty="0">
                <a:solidFill>
                  <a:schemeClr val="accent1"/>
                </a:solidFill>
              </a:rPr>
              <a:t>¿Tengo que pagar impuestos?</a:t>
            </a:r>
            <a:endParaRPr lang="en-US" sz="1400" dirty="0"/>
          </a:p>
        </p:txBody>
      </p:sp>
      <p:sp>
        <p:nvSpPr>
          <p:cNvPr id="17" name="Text 15"/>
          <p:cNvSpPr txBox="1"/>
          <p:nvPr/>
        </p:nvSpPr>
        <p:spPr>
          <a:xfrm>
            <a:off x="3447288" y="3410712"/>
            <a:ext cx="2286000" cy="777240"/>
          </a:xfrm>
          <a:prstGeom prst="rect">
            <a:avLst/>
          </a:prstGeom>
          <a:noFill/>
          <a:ln/>
        </p:spPr>
        <p:txBody>
          <a:bodyPr wrap="square" lIns="0" tIns="0" rIns="0" bIns="0" rtlCol="0" anchor="t"/>
          <a:lstStyle/>
          <a:p>
            <a:pPr indent="0" marL="0">
              <a:buNone/>
            </a:pPr>
            <a:r>
              <a:rPr lang="en-US" sz="1200" dirty="0">
                <a:solidFill>
                  <a:schemeClr val="tx1"/>
                </a:solidFill>
              </a:rPr>
              <a:t>Solo cuando vendes con ganancias. Los traspasos entre fondos no pagan impuestos.</a:t>
            </a:r>
            <a:endParaRPr lang="en-US" sz="1200" dirty="0"/>
          </a:p>
        </p:txBody>
      </p:sp>
      <p:sp>
        <p:nvSpPr>
          <p:cNvPr id="18" name="Pregunta 6"/>
          <p:cNvSpPr/>
          <p:nvPr/>
        </p:nvSpPr>
        <p:spPr>
          <a:xfrm>
            <a:off x="6071616" y="2770632"/>
            <a:ext cx="2606040" cy="1481328"/>
          </a:xfrm>
          <a:prstGeom prst="roundRect">
            <a:avLst>
              <a:gd name="adj" fmla="val 7407"/>
            </a:avLst>
          </a:prstGeom>
          <a:solidFill>
            <a:schemeClr val="bg2"/>
          </a:solidFill>
          <a:ln/>
        </p:spPr>
      </p:sp>
      <p:sp>
        <p:nvSpPr>
          <p:cNvPr id="19" name="Text 17"/>
          <p:cNvSpPr txBox="1"/>
          <p:nvPr/>
        </p:nvSpPr>
        <p:spPr>
          <a:xfrm>
            <a:off x="6254496" y="2880360"/>
            <a:ext cx="2286000" cy="457200"/>
          </a:xfrm>
          <a:prstGeom prst="rect">
            <a:avLst/>
          </a:prstGeom>
          <a:noFill/>
          <a:ln/>
        </p:spPr>
        <p:txBody>
          <a:bodyPr wrap="square" lIns="0" tIns="0" rIns="0" bIns="0" rtlCol="0" anchor="ctr"/>
          <a:lstStyle/>
          <a:p>
            <a:pPr indent="0" marL="0">
              <a:buNone/>
            </a:pPr>
            <a:r>
              <a:rPr lang="en-US" sz="1400" b="1" dirty="0">
                <a:solidFill>
                  <a:schemeClr val="accent1"/>
                </a:solidFill>
              </a:rPr>
              <a:t>¿Puedo dejar el servicio?</a:t>
            </a:r>
            <a:endParaRPr lang="en-US" sz="1400" dirty="0"/>
          </a:p>
        </p:txBody>
      </p:sp>
      <p:sp>
        <p:nvSpPr>
          <p:cNvPr id="20" name="Text 18"/>
          <p:cNvSpPr txBox="1"/>
          <p:nvPr/>
        </p:nvSpPr>
        <p:spPr>
          <a:xfrm>
            <a:off x="6254496" y="3410712"/>
            <a:ext cx="2286000" cy="777240"/>
          </a:xfrm>
          <a:prstGeom prst="rect">
            <a:avLst/>
          </a:prstGeom>
          <a:noFill/>
          <a:ln/>
        </p:spPr>
        <p:txBody>
          <a:bodyPr wrap="square" lIns="0" tIns="0" rIns="0" bIns="0" rtlCol="0" anchor="t"/>
          <a:lstStyle/>
          <a:p>
            <a:pPr indent="0" marL="0">
              <a:buNone/>
            </a:pPr>
            <a:r>
              <a:rPr lang="en-US" sz="1200" dirty="0">
                <a:solidFill>
                  <a:schemeClr val="tx1"/>
                </a:solidFill>
              </a:rPr>
              <a:t>Sí, según las condiciones del contrato. Tus inversiones siguen siendo tuyas, donde están.</a:t>
            </a:r>
            <a:endParaRPr lang="en-US" sz="1200" dirty="0"/>
          </a:p>
        </p:txBody>
      </p:sp>
      <p:sp>
        <p:nvSpPr>
          <p:cNvPr id="25" name="Slide Number Placeholder 0"/>
          <p:cNvSpPr>
            <a:spLocks noGrp="1"/>
          </p:cNvSpPr>
          <p:nvPr>
            <p:ph type="sldNum" sz="quarter" idx="4294967295"/>
          </p:nvPr>
        </p:nvSpPr>
        <p:spPr>
          <a:xfrm>
            <a:off x="8229600" y="468172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1371600"/>
            <a:ext cx="8046720" cy="100584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Próximos pasos</a:t>
            </a:r>
            <a:endParaRPr lang="en-US" sz="4000" dirty="0"/>
          </a:p>
        </p:txBody>
      </p:sp>
      <p:sp>
        <p:nvSpPr>
          <p:cNvPr id="3" name="Próximo paso 1"/>
          <p:cNvSpPr/>
          <p:nvPr/>
        </p:nvSpPr>
        <p:spPr>
          <a:xfrm>
            <a:off x="548640" y="2834640"/>
            <a:ext cx="457200" cy="457200"/>
          </a:xfrm>
          <a:prstGeom prst="ellipse">
            <a:avLst/>
          </a:prstGeom>
          <a:solidFill>
            <a:schemeClr val="accent1"/>
          </a:solidFill>
          <a:ln/>
        </p:spPr>
      </p:sp>
      <p:sp>
        <p:nvSpPr>
          <p:cNvPr id="4" name="Text 2"/>
          <p:cNvSpPr txBox="1"/>
          <p:nvPr/>
        </p:nvSpPr>
        <p:spPr>
          <a:xfrm>
            <a:off x="548640" y="2834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5" name="Text 3"/>
          <p:cNvSpPr txBox="1"/>
          <p:nvPr/>
        </p:nvSpPr>
        <p:spPr>
          <a:xfrm>
            <a:off x="1143000" y="2788920"/>
            <a:ext cx="1920240" cy="594360"/>
          </a:xfrm>
          <a:prstGeom prst="rect">
            <a:avLst/>
          </a:prstGeom>
          <a:noFill/>
          <a:ln/>
        </p:spPr>
        <p:txBody>
          <a:bodyPr wrap="square" lIns="0" tIns="0" rIns="0" bIns="0" rtlCol="0" anchor="ctr"/>
          <a:lstStyle/>
          <a:p>
            <a:pPr indent="0" marL="0">
              <a:buNone/>
            </a:pPr>
            <a:r>
              <a:rPr lang="en-US" sz="1400" dirty="0">
                <a:solidFill>
                  <a:schemeClr val="bg1"/>
                </a:solidFill>
              </a:rPr>
              <a:t>Rellena el cuestionario de bienvenida</a:t>
            </a:r>
            <a:endParaRPr lang="en-US" sz="1400" dirty="0"/>
          </a:p>
        </p:txBody>
      </p:sp>
      <p:sp>
        <p:nvSpPr>
          <p:cNvPr id="6" name="Próximo paso 2"/>
          <p:cNvSpPr/>
          <p:nvPr/>
        </p:nvSpPr>
        <p:spPr>
          <a:xfrm>
            <a:off x="3246120" y="2834640"/>
            <a:ext cx="457200" cy="457200"/>
          </a:xfrm>
          <a:prstGeom prst="ellipse">
            <a:avLst/>
          </a:prstGeom>
          <a:solidFill>
            <a:schemeClr val="accent2"/>
          </a:solidFill>
          <a:ln/>
        </p:spPr>
      </p:sp>
      <p:sp>
        <p:nvSpPr>
          <p:cNvPr id="7" name="Text 5"/>
          <p:cNvSpPr txBox="1"/>
          <p:nvPr/>
        </p:nvSpPr>
        <p:spPr>
          <a:xfrm>
            <a:off x="3246120" y="2834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8" name="Text 6"/>
          <p:cNvSpPr txBox="1"/>
          <p:nvPr/>
        </p:nvSpPr>
        <p:spPr>
          <a:xfrm>
            <a:off x="3840480" y="2788920"/>
            <a:ext cx="1920240" cy="594360"/>
          </a:xfrm>
          <a:prstGeom prst="rect">
            <a:avLst/>
          </a:prstGeom>
          <a:noFill/>
          <a:ln/>
        </p:spPr>
        <p:txBody>
          <a:bodyPr wrap="square" lIns="0" tIns="0" rIns="0" bIns="0" rtlCol="0" anchor="ctr"/>
          <a:lstStyle/>
          <a:p>
            <a:pPr indent="0" marL="0">
              <a:buNone/>
            </a:pPr>
            <a:r>
              <a:rPr lang="en-US" sz="1400" dirty="0">
                <a:solidFill>
                  <a:schemeClr val="bg1"/>
                </a:solidFill>
              </a:rPr>
              <a:t>Reúne la documentación</a:t>
            </a:r>
            <a:endParaRPr lang="en-US" sz="1400" dirty="0"/>
          </a:p>
        </p:txBody>
      </p:sp>
      <p:sp>
        <p:nvSpPr>
          <p:cNvPr id="9" name="Próximo paso 3"/>
          <p:cNvSpPr/>
          <p:nvPr/>
        </p:nvSpPr>
        <p:spPr>
          <a:xfrm>
            <a:off x="5943600" y="2834640"/>
            <a:ext cx="457200" cy="457200"/>
          </a:xfrm>
          <a:prstGeom prst="ellipse">
            <a:avLst/>
          </a:prstGeom>
          <a:solidFill>
            <a:schemeClr val="accent3"/>
          </a:solidFill>
          <a:ln/>
        </p:spPr>
      </p:sp>
      <p:sp>
        <p:nvSpPr>
          <p:cNvPr id="10" name="Text 8"/>
          <p:cNvSpPr txBox="1"/>
          <p:nvPr/>
        </p:nvSpPr>
        <p:spPr>
          <a:xfrm>
            <a:off x="5943600" y="2834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11" name="Text 9"/>
          <p:cNvSpPr txBox="1"/>
          <p:nvPr/>
        </p:nvSpPr>
        <p:spPr>
          <a:xfrm>
            <a:off x="6537960" y="2788920"/>
            <a:ext cx="1920240" cy="594360"/>
          </a:xfrm>
          <a:prstGeom prst="rect">
            <a:avLst/>
          </a:prstGeom>
          <a:noFill/>
          <a:ln/>
        </p:spPr>
        <p:txBody>
          <a:bodyPr wrap="square" lIns="0" tIns="0" rIns="0" bIns="0" rtlCol="0" anchor="ctr"/>
          <a:lstStyle/>
          <a:p>
            <a:pPr indent="0" marL="0">
              <a:buNone/>
            </a:pPr>
            <a:r>
              <a:rPr lang="en-US" sz="1400" dirty="0">
                <a:solidFill>
                  <a:schemeClr val="bg1"/>
                </a:solidFill>
              </a:rPr>
              <a:t>Agendamos la reunión para tu perfil y tu plan</a:t>
            </a:r>
            <a:endParaRPr lang="en-US" sz="1400" dirty="0"/>
          </a:p>
        </p:txBody>
      </p:sp>
      <p:sp>
        <p:nvSpPr>
          <p:cNvPr id="12" name="Text 10"/>
          <p:cNvSpPr txBox="1"/>
          <p:nvPr/>
        </p:nvSpPr>
        <p:spPr>
          <a:xfrm>
            <a:off x="548640" y="4343400"/>
            <a:ext cx="7772400" cy="320040"/>
          </a:xfrm>
          <a:prstGeom prst="rect">
            <a:avLst/>
          </a:prstGeom>
          <a:noFill/>
          <a:ln/>
        </p:spPr>
        <p:txBody>
          <a:bodyPr wrap="square" lIns="0" tIns="0" rIns="0" bIns="0" rtlCol="0" anchor="t"/>
          <a:lstStyle/>
          <a:p>
            <a:pPr indent="0" marL="0">
              <a:buNone/>
            </a:pPr>
            <a:r>
              <a:rPr lang="en-US" sz="1200" dirty="0">
                <a:solidFill>
                  <a:schemeClr val="bg1"/>
                </a:solidFill>
              </a:rPr>
              <a:t>¿Dudas? Escríbenos: jandroogm0@gmail.com · Alejandro Garcia Montellano</a:t>
            </a:r>
            <a:endParaRPr lang="en-US" sz="1200" dirty="0"/>
          </a:p>
        </p:txBody>
      </p:sp>
    </p:spTree>
  </p:cSld>
  <p:clrMapOvr>
    <a:masterClrMapping/>
  </p:clrMapOvr>
</p:sld>
</file>

<file path=ppt/theme/theme1.xml><?xml version="1.0" encoding="utf-8"?>
<a:theme xmlns:a="http://schemas.openxmlformats.org/drawingml/2006/main" name="AG Financial Office">
  <a:themeElements>
    <a:clrScheme name="AG Financial Office">
      <a:dk1>
        <a:srgbClr val="0B0D24"/>
      </a:dk1>
      <a:lt1>
        <a:srgbClr val="FFFFFF"/>
      </a:lt1>
      <a:dk2>
        <a:srgbClr val="1B1F4B"/>
      </a:dk2>
      <a:lt2>
        <a:srgbClr val="F2F3FA"/>
      </a:lt2>
      <a:accent1>
        <a:srgbClr val="2F5BFF"/>
      </a:accent1>
      <a:accent2>
        <a:srgbClr val="7A3CF0"/>
      </a:accent2>
      <a:accent3>
        <a:srgbClr val="FF6A2C"/>
      </a:accent3>
      <a:accent4>
        <a:srgbClr val="D63A8F"/>
      </a:accent4>
      <a:accent5>
        <a:srgbClr val="16A9E6"/>
      </a:accent5>
      <a:accent6>
        <a:srgbClr val="6B7090"/>
      </a:accent6>
      <a:hlink>
        <a:srgbClr val="2F5BFF"/>
      </a:hlink>
      <a:folHlink>
        <a:srgbClr val="7A3CF0"/>
      </a:folHlink>
    </a:clrScheme>
    <a:fontScheme name="AG Financial 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AG Financial Office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de bienvenida — AG Financial Office</dc:title>
  <dc:subject>PptxGenJS Presentation</dc:subject>
  <dc:creator>Alejandro Garcia Montellano</dc:creator>
  <cp:lastModifiedBy>Alejandro Garcia Montellano</cp:lastModifiedBy>
  <cp:revision>1</cp:revision>
  <dcterms:created xsi:type="dcterms:W3CDTF">2026-10-08T07:45:43Z</dcterms:created>
  <dcterms:modified xsi:type="dcterms:W3CDTF">2026-10-08T07:45:43Z</dcterms:modified>
</cp:coreProperties>
</file>